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96"/>
  </p:normalViewPr>
  <p:slideViewPr>
    <p:cSldViewPr snapToGrid="0" snapToObjects="1">
      <p:cViewPr varScale="1">
        <p:scale>
          <a:sx n="149" d="100"/>
          <a:sy n="149" d="100"/>
        </p:scale>
        <p:origin x="192"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0FC5DF6C-43E0-D525-F830-2A4CACBF0D41}"/>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297680" y="777240"/>
            <a:ext cx="3593592" cy="384048"/>
          </a:xfrm>
          <a:prstGeom prst="roundRect">
            <a:avLst/>
          </a:prstGeom>
          <a:solidFill>
            <a:srgbClr val="1826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PYTHON CAPSTONE PROJECT  |  PROBLEM #6</a:t>
            </a:r>
          </a:p>
        </p:txBody>
      </p:sp>
      <p:sp>
        <p:nvSpPr>
          <p:cNvPr id="4" name="TextBox 3"/>
          <p:cNvSpPr txBox="1"/>
          <p:nvPr/>
        </p:nvSpPr>
        <p:spPr>
          <a:xfrm>
            <a:off x="914400" y="1325880"/>
            <a:ext cx="10360152" cy="1371600"/>
          </a:xfrm>
          <a:prstGeom prst="rect">
            <a:avLst/>
          </a:prstGeom>
          <a:noFill/>
        </p:spPr>
        <p:txBody>
          <a:bodyPr wrap="square">
            <a:spAutoFit/>
          </a:bodyPr>
          <a:lstStyle/>
          <a:p>
            <a:pPr algn="ctr">
              <a:defRPr sz="4000" b="1">
                <a:solidFill>
                  <a:srgbClr val="F8FAFC"/>
                </a:solidFill>
                <a:latin typeface="Segoe UI"/>
              </a:defRPr>
            </a:pPr>
            <a:r>
              <a:t>Log File Analyzer &amp;</a:t>
            </a:r>
            <a:br/>
            <a:r>
              <a:t>Error Monitoring Tool</a:t>
            </a:r>
          </a:p>
        </p:txBody>
      </p:sp>
      <p:sp>
        <p:nvSpPr>
          <p:cNvPr id="5" name="TextBox 4"/>
          <p:cNvSpPr txBox="1"/>
          <p:nvPr/>
        </p:nvSpPr>
        <p:spPr>
          <a:xfrm>
            <a:off x="1645920" y="2926080"/>
            <a:ext cx="8897112" cy="731520"/>
          </a:xfrm>
          <a:prstGeom prst="rect">
            <a:avLst/>
          </a:prstGeom>
          <a:noFill/>
        </p:spPr>
        <p:txBody>
          <a:bodyPr wrap="square">
            <a:spAutoFit/>
          </a:bodyPr>
          <a:lstStyle/>
          <a:p>
            <a:pPr algn="ctr">
              <a:defRPr sz="1500">
                <a:solidFill>
                  <a:srgbClr val="CBD5E1"/>
                </a:solidFill>
                <a:latin typeface="Segoe UI"/>
              </a:defRPr>
            </a:pPr>
            <a:r>
              <a:t>High-throughput log streaming, regex pattern extraction, collections-based analytics, and automated operational reporting in Python.</a:t>
            </a:r>
          </a:p>
        </p:txBody>
      </p:sp>
      <p:sp>
        <p:nvSpPr>
          <p:cNvPr id="6" name="Rounded Rectangle 5"/>
          <p:cNvSpPr/>
          <p:nvPr/>
        </p:nvSpPr>
        <p:spPr>
          <a:xfrm>
            <a:off x="777240" y="3977639"/>
            <a:ext cx="24688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01168" rIns="182880" rtlCol="0" anchor="ctr"/>
          <a:lstStyle/>
          <a:p>
            <a:pPr algn="ctr">
              <a:defRPr sz="1500" b="1">
                <a:solidFill>
                  <a:srgbClr val="38BDF8"/>
                </a:solidFill>
                <a:latin typeface="Segoe UI"/>
              </a:defRPr>
            </a:pPr>
            <a:r>
              <a:rPr lang="en-US" dirty="0"/>
              <a:t>PRATIK</a:t>
            </a:r>
            <a:endParaRPr dirty="0"/>
          </a:p>
          <a:p>
            <a:pPr>
              <a:spcAft>
                <a:spcPts val="800"/>
              </a:spcAft>
              <a:defRPr sz="1200" b="1">
                <a:solidFill>
                  <a:srgbClr val="F8FAFC"/>
                </a:solidFill>
                <a:latin typeface="Segoe UI"/>
              </a:defRPr>
            </a:pPr>
            <a:r>
              <a:rPr lang="en-US" dirty="0"/>
              <a:t>       </a:t>
            </a:r>
            <a:r>
              <a:rPr dirty="0"/>
              <a:t>File I/O &amp; Iterators</a:t>
            </a:r>
          </a:p>
          <a:p>
            <a:pPr>
              <a:defRPr sz="1100">
                <a:solidFill>
                  <a:srgbClr val="94A3B8"/>
                </a:solidFill>
                <a:latin typeface="Segoe UI"/>
              </a:defRPr>
            </a:pPr>
            <a:r>
              <a:rPr dirty="0"/>
              <a:t>Streamline reading, generators, file safety</a:t>
            </a:r>
          </a:p>
        </p:txBody>
      </p:sp>
      <p:sp>
        <p:nvSpPr>
          <p:cNvPr id="7" name="Rounded Rectangle 6"/>
          <p:cNvSpPr/>
          <p:nvPr/>
        </p:nvSpPr>
        <p:spPr>
          <a:xfrm>
            <a:off x="3465576" y="3977639"/>
            <a:ext cx="24688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01168" rIns="182880" rtlCol="0" anchor="ctr"/>
          <a:lstStyle/>
          <a:p>
            <a:pPr algn="ctr">
              <a:defRPr sz="1500" b="1">
                <a:solidFill>
                  <a:srgbClr val="38BDF8"/>
                </a:solidFill>
                <a:latin typeface="Segoe UI"/>
              </a:defRPr>
            </a:pPr>
            <a:r>
              <a:rPr lang="en-US" dirty="0"/>
              <a:t>TEJAS</a:t>
            </a:r>
            <a:r>
              <a:rPr dirty="0"/>
              <a:t> </a:t>
            </a:r>
          </a:p>
          <a:p>
            <a:pPr>
              <a:spcAft>
                <a:spcPts val="800"/>
              </a:spcAft>
              <a:defRPr sz="1200" b="1">
                <a:solidFill>
                  <a:srgbClr val="F8FAFC"/>
                </a:solidFill>
                <a:latin typeface="Segoe UI"/>
              </a:defRPr>
            </a:pPr>
            <a:r>
              <a:rPr lang="en-US" dirty="0"/>
              <a:t>     </a:t>
            </a:r>
            <a:r>
              <a:rPr dirty="0"/>
              <a:t>Regex Parsing Engine</a:t>
            </a:r>
          </a:p>
          <a:p>
            <a:pPr>
              <a:defRPr sz="1100">
                <a:solidFill>
                  <a:srgbClr val="94A3B8"/>
                </a:solidFill>
                <a:latin typeface="Segoe UI"/>
              </a:defRPr>
            </a:pPr>
            <a:r>
              <a:rPr dirty="0"/>
              <a:t>ISO timestamps, severity classification</a:t>
            </a:r>
          </a:p>
        </p:txBody>
      </p:sp>
      <p:sp>
        <p:nvSpPr>
          <p:cNvPr id="8" name="Rounded Rectangle 7"/>
          <p:cNvSpPr/>
          <p:nvPr/>
        </p:nvSpPr>
        <p:spPr>
          <a:xfrm>
            <a:off x="6153912" y="3977639"/>
            <a:ext cx="24688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01168" rIns="182880" rtlCol="0" anchor="ctr"/>
          <a:lstStyle/>
          <a:p>
            <a:pPr algn="ctr">
              <a:defRPr sz="1500" b="1">
                <a:solidFill>
                  <a:srgbClr val="38BDF8"/>
                </a:solidFill>
                <a:latin typeface="Segoe UI"/>
              </a:defRPr>
            </a:pPr>
            <a:r>
              <a:rPr lang="en-US" dirty="0"/>
              <a:t>VAISHNAVI</a:t>
            </a:r>
            <a:endParaRPr dirty="0"/>
          </a:p>
          <a:p>
            <a:pPr>
              <a:spcAft>
                <a:spcPts val="800"/>
              </a:spcAft>
              <a:defRPr sz="1200" b="1">
                <a:solidFill>
                  <a:srgbClr val="F8FAFC"/>
                </a:solidFill>
                <a:latin typeface="Segoe UI"/>
              </a:defRPr>
            </a:pPr>
            <a:r>
              <a:rPr lang="en-US" dirty="0"/>
              <a:t>     </a:t>
            </a:r>
            <a:r>
              <a:rPr dirty="0"/>
              <a:t>Analytics &amp; Counter</a:t>
            </a:r>
          </a:p>
          <a:p>
            <a:pPr>
              <a:defRPr sz="1100">
                <a:solidFill>
                  <a:srgbClr val="94A3B8"/>
                </a:solidFill>
                <a:latin typeface="Segoe UI"/>
              </a:defRPr>
            </a:pPr>
            <a:r>
              <a:rPr dirty="0"/>
              <a:t>collections.Counter, frequency rankings</a:t>
            </a:r>
          </a:p>
        </p:txBody>
      </p:sp>
      <p:sp>
        <p:nvSpPr>
          <p:cNvPr id="9" name="Rounded Rectangle 8"/>
          <p:cNvSpPr/>
          <p:nvPr/>
        </p:nvSpPr>
        <p:spPr>
          <a:xfrm>
            <a:off x="8842248" y="3977639"/>
            <a:ext cx="2468880" cy="2103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01168" rIns="182880" rtlCol="0" anchor="ctr"/>
          <a:lstStyle/>
          <a:p>
            <a:pPr algn="ctr">
              <a:defRPr sz="1500" b="1">
                <a:solidFill>
                  <a:srgbClr val="38BDF8"/>
                </a:solidFill>
                <a:latin typeface="Segoe UI"/>
              </a:defRPr>
            </a:pPr>
            <a:r>
              <a:rPr lang="en-US" dirty="0"/>
              <a:t>ARPIT</a:t>
            </a:r>
            <a:endParaRPr dirty="0"/>
          </a:p>
          <a:p>
            <a:pPr>
              <a:spcAft>
                <a:spcPts val="800"/>
              </a:spcAft>
              <a:defRPr sz="1200" b="1">
                <a:solidFill>
                  <a:srgbClr val="F8FAFC"/>
                </a:solidFill>
                <a:latin typeface="Segoe UI"/>
              </a:defRPr>
            </a:pPr>
            <a:r>
              <a:rPr lang="en-US" dirty="0"/>
              <a:t>      </a:t>
            </a:r>
            <a:r>
              <a:rPr dirty="0"/>
              <a:t>Reports &amp; CLI Tests</a:t>
            </a:r>
          </a:p>
          <a:p>
            <a:pPr>
              <a:defRPr sz="1100">
                <a:solidFill>
                  <a:srgbClr val="94A3B8"/>
                </a:solidFill>
                <a:latin typeface="Segoe UI"/>
              </a:defRPr>
            </a:pPr>
            <a:r>
              <a:rPr dirty="0"/>
              <a:t>CSV exports, logging, unit</a:t>
            </a:r>
            <a:r>
              <a:rPr lang="en-US" dirty="0"/>
              <a:t> </a:t>
            </a:r>
            <a:r>
              <a:rPr dirty="0"/>
              <a:t>test suite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1. PROBLEM CONTEXT</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Business Scenario &amp; Strategic Objective</a:t>
            </a:r>
          </a:p>
        </p:txBody>
      </p:sp>
      <p:sp>
        <p:nvSpPr>
          <p:cNvPr id="5" name="Rounded Rectangle 4"/>
          <p:cNvSpPr/>
          <p:nvPr/>
        </p:nvSpPr>
        <p:spPr>
          <a:xfrm>
            <a:off x="731520" y="146304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800" b="1">
                <a:solidFill>
                  <a:srgbClr val="FB923C"/>
                </a:solidFill>
                <a:latin typeface="Segoe UI"/>
              </a:defRPr>
            </a:pPr>
            <a:r>
              <a:t>The Business Problem</a:t>
            </a:r>
          </a:p>
          <a:p>
            <a:pPr>
              <a:spcAft>
                <a:spcPts val="600"/>
              </a:spcAft>
              <a:defRPr sz="1300">
                <a:solidFill>
                  <a:srgbClr val="94A3B8"/>
                </a:solidFill>
                <a:latin typeface="Segoe UI"/>
              </a:defRPr>
            </a:pPr>
            <a:r>
              <a:t>Distributed production systems generate millions of semi-structured log lines across servers, containers, and microservices.</a:t>
            </a:r>
          </a:p>
          <a:p>
            <a:pPr>
              <a:spcAft>
                <a:spcPts val="600"/>
              </a:spcAft>
              <a:defRPr sz="1300">
                <a:solidFill>
                  <a:srgbClr val="94A3B8"/>
                </a:solidFill>
                <a:latin typeface="Segoe UI"/>
              </a:defRPr>
            </a:pPr>
            <a:r>
              <a:t>Crucial operational signals like database connection drops, 5xx gateway timeouts, and auth failures are buried in gigabytes of routine INFO logs.</a:t>
            </a:r>
          </a:p>
          <a:p>
            <a:pPr>
              <a:spcAft>
                <a:spcPts val="600"/>
              </a:spcAft>
              <a:defRPr sz="1300">
                <a:solidFill>
                  <a:srgbClr val="94A3B8"/>
                </a:solidFill>
                <a:latin typeface="Segoe UI"/>
              </a:defRPr>
            </a:pPr>
            <a:r>
              <a:t>Manual triage via standard grep/cat leads to long Mean Time to Detect (MTTD) and delayed incident responses.</a:t>
            </a:r>
          </a:p>
          <a:p>
            <a:pPr>
              <a:spcAft>
                <a:spcPts val="600"/>
              </a:spcAft>
              <a:defRPr sz="1300">
                <a:solidFill>
                  <a:srgbClr val="94A3B8"/>
                </a:solidFill>
                <a:latin typeface="Segoe UI"/>
              </a:defRPr>
            </a:pPr>
            <a:r>
              <a:t>In-memory loading of giant log files risks system memory exhaustion (OOM), requiring an efficient streaming architecture.</a:t>
            </a:r>
          </a:p>
        </p:txBody>
      </p:sp>
      <p:sp>
        <p:nvSpPr>
          <p:cNvPr id="6" name="Rounded Rectangle 5"/>
          <p:cNvSpPr/>
          <p:nvPr/>
        </p:nvSpPr>
        <p:spPr>
          <a:xfrm>
            <a:off x="6245352" y="1463040"/>
            <a:ext cx="521208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800" b="1">
                <a:solidFill>
                  <a:srgbClr val="34D399"/>
                </a:solidFill>
                <a:latin typeface="Segoe UI"/>
              </a:defRPr>
            </a:pPr>
            <a:r>
              <a:t>Core Project Objective</a:t>
            </a:r>
          </a:p>
          <a:p>
            <a:pPr>
              <a:spcAft>
                <a:spcPts val="600"/>
              </a:spcAft>
              <a:defRPr sz="1300">
                <a:solidFill>
                  <a:srgbClr val="94A3B8"/>
                </a:solidFill>
                <a:latin typeface="Segoe UI"/>
              </a:defRPr>
            </a:pPr>
            <a:r>
              <a:t>Build a fast, memory-safe command-line Python utility to ingest multi-gigabyte log streams lazily via iterators.</a:t>
            </a:r>
          </a:p>
          <a:p>
            <a:pPr>
              <a:spcAft>
                <a:spcPts val="600"/>
              </a:spcAft>
              <a:defRPr sz="1300">
                <a:solidFill>
                  <a:srgbClr val="94A3B8"/>
                </a:solidFill>
                <a:latin typeface="Segoe UI"/>
              </a:defRPr>
            </a:pPr>
            <a:r>
              <a:t>Execute regex parsing to cleanly capture ISO timestamps, severity tiers, origin modules, and error payloads.</a:t>
            </a:r>
          </a:p>
          <a:p>
            <a:pPr>
              <a:spcAft>
                <a:spcPts val="600"/>
              </a:spcAft>
              <a:defRPr sz="1300">
                <a:solidFill>
                  <a:srgbClr val="94A3B8"/>
                </a:solidFill>
                <a:latin typeface="Segoe UI"/>
              </a:defRPr>
            </a:pPr>
            <a:r>
              <a:t>Aggregate log frequencies using Python's collections.Counter to isolate top recurring operational exceptions.</a:t>
            </a:r>
          </a:p>
          <a:p>
            <a:pPr>
              <a:spcAft>
                <a:spcPts val="600"/>
              </a:spcAft>
              <a:defRPr sz="1300">
                <a:solidFill>
                  <a:srgbClr val="94A3B8"/>
                </a:solidFill>
                <a:latin typeface="Segoe UI"/>
              </a:defRPr>
            </a:pPr>
            <a:r>
              <a:t>Generate multi-channel operational summaries: instant rich console displays, CSV trend files, and self-audit execution logs.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2. INPUT SPECIFICATION</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Input Data Schema &amp; Log Anatomy</a:t>
            </a:r>
          </a:p>
        </p:txBody>
      </p:sp>
      <p:sp>
        <p:nvSpPr>
          <p:cNvPr id="5" name="Rounded Rectangle 4"/>
          <p:cNvSpPr/>
          <p:nvPr/>
        </p:nvSpPr>
        <p:spPr>
          <a:xfrm>
            <a:off x="731520" y="1463040"/>
            <a:ext cx="10725912"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600" b="1">
                <a:solidFill>
                  <a:srgbClr val="38BDF8"/>
                </a:solidFill>
                <a:latin typeface="Segoe UI"/>
              </a:defRPr>
            </a:pPr>
            <a:r>
              <a:t>Sample Raw Log Format &amp; Token Anatomy</a:t>
            </a:r>
          </a:p>
          <a:p>
            <a:pPr>
              <a:spcAft>
                <a:spcPts val="1000"/>
              </a:spcAft>
              <a:defRPr sz="1200">
                <a:solidFill>
                  <a:srgbClr val="F8FAFC"/>
                </a:solidFill>
                <a:latin typeface="Consolas"/>
              </a:defRPr>
            </a:pPr>
            <a:r>
              <a:t>2026-03-29 14:22:10,482 | ERROR | db_pool | Connection to postgres-primary:5432 timed out after 3000ms</a:t>
            </a:r>
          </a:p>
          <a:p>
            <a:pPr>
              <a:defRPr sz="1200">
                <a:solidFill>
                  <a:srgbClr val="94A3B8"/>
                </a:solidFill>
                <a:latin typeface="Segoe UI"/>
              </a:defRPr>
            </a:pPr>
            <a:r>
              <a:t>Standard input files are plain-text (.log / .txt). Each valid entry adheres to 4 key tokens: [Timestamp] | [Log Level] | [Module Name] | [Message Payload].</a:t>
            </a:r>
          </a:p>
        </p:txBody>
      </p:sp>
      <p:sp>
        <p:nvSpPr>
          <p:cNvPr id="6" name="Rounded Rectangle 5"/>
          <p:cNvSpPr/>
          <p:nvPr/>
        </p:nvSpPr>
        <p:spPr>
          <a:xfrm>
            <a:off x="731520" y="3703320"/>
            <a:ext cx="3410712" cy="2514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A78BFA"/>
                </a:solidFill>
                <a:latin typeface="Segoe UI"/>
              </a:defRPr>
            </a:pPr>
            <a:r>
              <a:t>Timestamp Token</a:t>
            </a:r>
          </a:p>
          <a:p>
            <a:pPr>
              <a:spcAft>
                <a:spcPts val="600"/>
              </a:spcAft>
              <a:defRPr sz="1150">
                <a:solidFill>
                  <a:srgbClr val="94A3B8"/>
                </a:solidFill>
                <a:latin typeface="Segoe UI"/>
              </a:defRPr>
            </a:pPr>
            <a:r>
              <a:t>Format: YYYY-MM-DD HH:MM:SS.</a:t>
            </a:r>
          </a:p>
          <a:p>
            <a:pPr>
              <a:spcAft>
                <a:spcPts val="600"/>
              </a:spcAft>
              <a:defRPr sz="1150">
                <a:solidFill>
                  <a:srgbClr val="94A3B8"/>
                </a:solidFill>
                <a:latin typeface="Segoe UI"/>
              </a:defRPr>
            </a:pPr>
            <a:r>
              <a:t>Captured by the regex as a string token for each event.</a:t>
            </a:r>
          </a:p>
          <a:p>
            <a:pPr>
              <a:spcAft>
                <a:spcPts val="600"/>
              </a:spcAft>
              <a:defRPr sz="1150">
                <a:solidFill>
                  <a:srgbClr val="94A3B8"/>
                </a:solidFill>
                <a:latin typeface="Segoe UI"/>
              </a:defRPr>
            </a:pPr>
            <a:r>
              <a:t>Available for chronological context in the report.</a:t>
            </a:r>
          </a:p>
        </p:txBody>
      </p:sp>
      <p:sp>
        <p:nvSpPr>
          <p:cNvPr id="7" name="Rounded Rectangle 6"/>
          <p:cNvSpPr/>
          <p:nvPr/>
        </p:nvSpPr>
        <p:spPr>
          <a:xfrm>
            <a:off x="4389120" y="3703320"/>
            <a:ext cx="3410712" cy="2514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F87171"/>
                </a:solidFill>
                <a:latin typeface="Segoe UI"/>
              </a:defRPr>
            </a:pPr>
            <a:r>
              <a:t>Log Severity Tiers</a:t>
            </a:r>
          </a:p>
          <a:p>
            <a:pPr>
              <a:spcAft>
                <a:spcPts val="600"/>
              </a:spcAft>
              <a:defRPr sz="1150">
                <a:solidFill>
                  <a:srgbClr val="94A3B8"/>
                </a:solidFill>
                <a:latin typeface="Segoe UI"/>
              </a:defRPr>
            </a:pPr>
            <a:r>
              <a:t>INFO: Routine operational logs (bulk of volume).</a:t>
            </a:r>
          </a:p>
          <a:p>
            <a:pPr>
              <a:spcAft>
                <a:spcPts val="600"/>
              </a:spcAft>
              <a:defRPr sz="1150">
                <a:solidFill>
                  <a:srgbClr val="94A3B8"/>
                </a:solidFill>
                <a:latin typeface="Segoe UI"/>
              </a:defRPr>
            </a:pPr>
            <a:r>
              <a:t>WARNING: Recoverable warnings, cache misses, slow queries.</a:t>
            </a:r>
          </a:p>
          <a:p>
            <a:pPr>
              <a:spcAft>
                <a:spcPts val="600"/>
              </a:spcAft>
              <a:defRPr sz="1150">
                <a:solidFill>
                  <a:srgbClr val="94A3B8"/>
                </a:solidFill>
                <a:latin typeface="Segoe UI"/>
              </a:defRPr>
            </a:pPr>
            <a:r>
              <a:t>ERROR: Unhandled exceptions and system failures.</a:t>
            </a:r>
          </a:p>
        </p:txBody>
      </p:sp>
      <p:sp>
        <p:nvSpPr>
          <p:cNvPr id="8" name="Rounded Rectangle 7"/>
          <p:cNvSpPr/>
          <p:nvPr/>
        </p:nvSpPr>
        <p:spPr>
          <a:xfrm>
            <a:off x="8046720" y="3703320"/>
            <a:ext cx="3410712" cy="2514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38BDF8"/>
                </a:solidFill>
                <a:latin typeface="Segoe UI"/>
              </a:defRPr>
            </a:pPr>
            <a:r>
              <a:t>Module &amp; Payload</a:t>
            </a:r>
          </a:p>
          <a:p>
            <a:pPr>
              <a:spcAft>
                <a:spcPts val="600"/>
              </a:spcAft>
              <a:defRPr sz="1150">
                <a:solidFill>
                  <a:srgbClr val="94A3B8"/>
                </a:solidFill>
                <a:latin typeface="Segoe UI"/>
              </a:defRPr>
            </a:pPr>
            <a:r>
              <a:t>Module tag designates source service (auth, payment, db_pool).</a:t>
            </a:r>
          </a:p>
          <a:p>
            <a:pPr>
              <a:spcAft>
                <a:spcPts val="600"/>
              </a:spcAft>
              <a:defRPr sz="1150">
                <a:solidFill>
                  <a:srgbClr val="94A3B8"/>
                </a:solidFill>
                <a:latin typeface="Segoe UI"/>
              </a:defRPr>
            </a:pPr>
            <a:r>
              <a:t>Message contains stack trace or failure signature.</a:t>
            </a:r>
          </a:p>
          <a:p>
            <a:pPr>
              <a:spcAft>
                <a:spcPts val="600"/>
              </a:spcAft>
              <a:defRPr sz="1150">
                <a:solidFill>
                  <a:srgbClr val="94A3B8"/>
                </a:solidFill>
                <a:latin typeface="Segoe UI"/>
              </a:defRPr>
            </a:pPr>
            <a:r>
              <a:t>Normalized to identify identical recurring errors.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3. FUNCTIONAL REQUIREMENTS</a:t>
            </a:r>
          </a:p>
        </p:txBody>
      </p:sp>
      <p:sp>
        <p:nvSpPr>
          <p:cNvPr id="4" name="TextBox 3"/>
          <p:cNvSpPr txBox="1"/>
          <p:nvPr/>
        </p:nvSpPr>
        <p:spPr>
          <a:xfrm>
            <a:off x="731520" y="658368"/>
            <a:ext cx="10515600" cy="369332"/>
          </a:xfrm>
          <a:prstGeom prst="rect">
            <a:avLst/>
          </a:prstGeom>
          <a:noFill/>
        </p:spPr>
        <p:txBody>
          <a:bodyPr wrap="square" lIns="0" tIns="0" rIns="0" bIns="0">
            <a:spAutoFit/>
          </a:bodyPr>
          <a:lstStyle/>
          <a:p>
            <a:pPr>
              <a:defRPr sz="2400" b="1">
                <a:solidFill>
                  <a:srgbClr val="F8FAFC"/>
                </a:solidFill>
                <a:latin typeface="Segoe UI"/>
              </a:defRPr>
            </a:pPr>
            <a:r>
              <a:rPr dirty="0"/>
              <a:t>Mandatory Functional Requirements</a:t>
            </a:r>
          </a:p>
        </p:txBody>
      </p:sp>
      <p:sp>
        <p:nvSpPr>
          <p:cNvPr id="5" name="Rounded Rectangle 4"/>
          <p:cNvSpPr/>
          <p:nvPr/>
        </p:nvSpPr>
        <p:spPr>
          <a:xfrm>
            <a:off x="731520" y="1463040"/>
            <a:ext cx="52395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38BDF8"/>
                </a:solidFill>
                <a:latin typeface="Segoe UI"/>
              </a:defRPr>
            </a:pPr>
            <a:r>
              <a:rPr dirty="0"/>
              <a:t>1. Lazy Iterator Reading: Memory-Safe Ingestion</a:t>
            </a:r>
          </a:p>
          <a:p>
            <a:pPr>
              <a:spcAft>
                <a:spcPts val="600"/>
              </a:spcAft>
              <a:defRPr sz="1100">
                <a:solidFill>
                  <a:srgbClr val="94A3B8"/>
                </a:solidFill>
                <a:latin typeface="Segoe UI"/>
              </a:defRPr>
            </a:pPr>
            <a:r>
              <a:rPr dirty="0"/>
              <a:t>Read input log files line-by-line via Python generator functions.</a:t>
            </a:r>
          </a:p>
          <a:p>
            <a:pPr>
              <a:spcAft>
                <a:spcPts val="600"/>
              </a:spcAft>
              <a:defRPr sz="1100">
                <a:solidFill>
                  <a:srgbClr val="94A3B8"/>
                </a:solidFill>
                <a:latin typeface="Segoe UI"/>
              </a:defRPr>
            </a:pPr>
            <a:r>
              <a:rPr dirty="0"/>
              <a:t>Prevent Out-Of-Memory (OOM) errors on large log files (1GB - 50GB).</a:t>
            </a:r>
          </a:p>
          <a:p>
            <a:pPr>
              <a:spcAft>
                <a:spcPts val="600"/>
              </a:spcAft>
              <a:defRPr sz="1100">
                <a:solidFill>
                  <a:srgbClr val="94A3B8"/>
                </a:solidFill>
                <a:latin typeface="Segoe UI"/>
              </a:defRPr>
            </a:pPr>
            <a:r>
              <a:rPr dirty="0"/>
              <a:t>Use context managers (with open()) for clean descriptor lifecycle.</a:t>
            </a:r>
          </a:p>
        </p:txBody>
      </p:sp>
      <p:sp>
        <p:nvSpPr>
          <p:cNvPr id="6" name="Rounded Rectangle 5"/>
          <p:cNvSpPr/>
          <p:nvPr/>
        </p:nvSpPr>
        <p:spPr>
          <a:xfrm>
            <a:off x="6217920" y="1463040"/>
            <a:ext cx="52395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A78BFA"/>
                </a:solidFill>
                <a:latin typeface="Segoe UI"/>
              </a:defRPr>
            </a:pPr>
            <a:r>
              <a:rPr dirty="0"/>
              <a:t>2. Regex Processing: Field Extraction &amp; Cleaning</a:t>
            </a:r>
          </a:p>
          <a:p>
            <a:pPr>
              <a:spcAft>
                <a:spcPts val="600"/>
              </a:spcAft>
              <a:defRPr sz="1100">
                <a:solidFill>
                  <a:srgbClr val="94A3B8"/>
                </a:solidFill>
                <a:latin typeface="Segoe UI"/>
              </a:defRPr>
            </a:pPr>
            <a:r>
              <a:rPr dirty="0"/>
              <a:t>Compile optimized regular expressions with named capture groups.</a:t>
            </a:r>
          </a:p>
          <a:p>
            <a:pPr>
              <a:spcAft>
                <a:spcPts val="600"/>
              </a:spcAft>
              <a:defRPr sz="1100">
                <a:solidFill>
                  <a:srgbClr val="94A3B8"/>
                </a:solidFill>
                <a:latin typeface="Segoe UI"/>
              </a:defRPr>
            </a:pPr>
            <a:r>
              <a:rPr dirty="0"/>
              <a:t>Extract timestamp, level, module name, and message cleanly.</a:t>
            </a:r>
          </a:p>
          <a:p>
            <a:pPr>
              <a:spcAft>
                <a:spcPts val="600"/>
              </a:spcAft>
              <a:defRPr sz="1100">
                <a:solidFill>
                  <a:srgbClr val="94A3B8"/>
                </a:solidFill>
                <a:latin typeface="Segoe UI"/>
              </a:defRPr>
            </a:pPr>
            <a:r>
              <a:rPr dirty="0"/>
              <a:t>Return None for corrupt/non-conforming lines so they are skipped.</a:t>
            </a:r>
          </a:p>
        </p:txBody>
      </p:sp>
      <p:sp>
        <p:nvSpPr>
          <p:cNvPr id="7" name="Rounded Rectangle 6"/>
          <p:cNvSpPr/>
          <p:nvPr/>
        </p:nvSpPr>
        <p:spPr>
          <a:xfrm>
            <a:off x="731520" y="3886200"/>
            <a:ext cx="341071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350" b="1">
                <a:solidFill>
                  <a:srgbClr val="FB923C"/>
                </a:solidFill>
                <a:latin typeface="Segoe UI"/>
              </a:defRPr>
            </a:pPr>
            <a:r>
              <a:rPr dirty="0"/>
              <a:t>3. Event Frequency Counts: Categorization Engine</a:t>
            </a:r>
          </a:p>
          <a:p>
            <a:pPr>
              <a:spcAft>
                <a:spcPts val="600"/>
              </a:spcAft>
              <a:defRPr sz="1050">
                <a:solidFill>
                  <a:srgbClr val="94A3B8"/>
                </a:solidFill>
                <a:latin typeface="Segoe UI"/>
              </a:defRPr>
            </a:pPr>
            <a:r>
              <a:rPr dirty="0"/>
              <a:t>Maintain fast running tally of total log entries processed.</a:t>
            </a:r>
          </a:p>
          <a:p>
            <a:pPr>
              <a:spcAft>
                <a:spcPts val="600"/>
              </a:spcAft>
              <a:defRPr sz="1050">
                <a:solidFill>
                  <a:srgbClr val="94A3B8"/>
                </a:solidFill>
                <a:latin typeface="Segoe UI"/>
              </a:defRPr>
            </a:pPr>
            <a:r>
              <a:rPr dirty="0"/>
              <a:t>Partition aggregate counts by level: INFO, WARNING, ERROR, CRITICAL.</a:t>
            </a:r>
          </a:p>
          <a:p>
            <a:pPr>
              <a:spcAft>
                <a:spcPts val="600"/>
              </a:spcAft>
              <a:defRPr sz="1050">
                <a:solidFill>
                  <a:srgbClr val="94A3B8"/>
                </a:solidFill>
                <a:latin typeface="Segoe UI"/>
              </a:defRPr>
            </a:pPr>
            <a:r>
              <a:rPr dirty="0"/>
              <a:t>Calculate warning-to-error ratios for health scoring.</a:t>
            </a:r>
          </a:p>
        </p:txBody>
      </p:sp>
      <p:sp>
        <p:nvSpPr>
          <p:cNvPr id="8" name="Rounded Rectangle 7"/>
          <p:cNvSpPr/>
          <p:nvPr/>
        </p:nvSpPr>
        <p:spPr>
          <a:xfrm>
            <a:off x="4389120" y="3886200"/>
            <a:ext cx="341071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350" b="1">
                <a:solidFill>
                  <a:srgbClr val="F87171"/>
                </a:solidFill>
                <a:latin typeface="Segoe UI"/>
              </a:defRPr>
            </a:pPr>
            <a:r>
              <a:rPr dirty="0"/>
              <a:t>4. Top Recurring Errors: Anomaly Isolation</a:t>
            </a:r>
          </a:p>
          <a:p>
            <a:pPr>
              <a:spcAft>
                <a:spcPts val="600"/>
              </a:spcAft>
              <a:defRPr sz="1050">
                <a:solidFill>
                  <a:srgbClr val="94A3B8"/>
                </a:solidFill>
                <a:latin typeface="Segoe UI"/>
              </a:defRPr>
            </a:pPr>
            <a:r>
              <a:rPr dirty="0"/>
              <a:t>Leverage collections.Counter to group repetitive error signatures.</a:t>
            </a:r>
          </a:p>
          <a:p>
            <a:pPr>
              <a:spcAft>
                <a:spcPts val="600"/>
              </a:spcAft>
              <a:defRPr sz="1050">
                <a:solidFill>
                  <a:srgbClr val="94A3B8"/>
                </a:solidFill>
                <a:latin typeface="Segoe UI"/>
              </a:defRPr>
            </a:pPr>
            <a:r>
              <a:rPr dirty="0"/>
              <a:t>Extract top-N most frequent errors using .</a:t>
            </a:r>
            <a:r>
              <a:rPr dirty="0" err="1"/>
              <a:t>most_common</a:t>
            </a:r>
            <a:r>
              <a:rPr dirty="0"/>
              <a:t>(N).</a:t>
            </a:r>
          </a:p>
          <a:p>
            <a:pPr>
              <a:spcAft>
                <a:spcPts val="600"/>
              </a:spcAft>
              <a:defRPr sz="1050">
                <a:solidFill>
                  <a:srgbClr val="94A3B8"/>
                </a:solidFill>
                <a:latin typeface="Segoe UI"/>
              </a:defRPr>
            </a:pPr>
            <a:r>
              <a:rPr dirty="0"/>
              <a:t>Strip transient variables (IDs, ports) to cluster common root causes.</a:t>
            </a:r>
          </a:p>
        </p:txBody>
      </p:sp>
      <p:sp>
        <p:nvSpPr>
          <p:cNvPr id="9" name="Rounded Rectangle 8"/>
          <p:cNvSpPr/>
          <p:nvPr/>
        </p:nvSpPr>
        <p:spPr>
          <a:xfrm>
            <a:off x="8046720" y="3886200"/>
            <a:ext cx="3410712" cy="2331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350" b="1">
                <a:solidFill>
                  <a:srgbClr val="34D399"/>
                </a:solidFill>
                <a:latin typeface="Segoe UI"/>
              </a:defRPr>
            </a:pPr>
            <a:r>
              <a:rPr dirty="0"/>
              <a:t>5. Multi-Report Export: Structured Reporting</a:t>
            </a:r>
          </a:p>
          <a:p>
            <a:pPr>
              <a:spcAft>
                <a:spcPts val="600"/>
              </a:spcAft>
              <a:defRPr sz="1050">
                <a:solidFill>
                  <a:srgbClr val="94A3B8"/>
                </a:solidFill>
                <a:latin typeface="Segoe UI"/>
              </a:defRPr>
            </a:pPr>
            <a:r>
              <a:rPr dirty="0"/>
              <a:t>Render ANSI-formatted terminal summary with high-priority alerts.</a:t>
            </a:r>
          </a:p>
          <a:p>
            <a:pPr>
              <a:spcAft>
                <a:spcPts val="600"/>
              </a:spcAft>
              <a:defRPr sz="1050">
                <a:solidFill>
                  <a:srgbClr val="94A3B8"/>
                </a:solidFill>
                <a:latin typeface="Segoe UI"/>
              </a:defRPr>
            </a:pPr>
            <a:r>
              <a:rPr dirty="0"/>
              <a:t>Export structured CSV summary for external analytics and BI ingestion.</a:t>
            </a:r>
          </a:p>
          <a:p>
            <a:pPr>
              <a:spcAft>
                <a:spcPts val="600"/>
              </a:spcAft>
              <a:defRPr sz="1050">
                <a:solidFill>
                  <a:srgbClr val="94A3B8"/>
                </a:solidFill>
                <a:latin typeface="Segoe UI"/>
              </a:defRPr>
            </a:pPr>
            <a:r>
              <a:rPr dirty="0"/>
              <a:t>Maintain execution audit logging of analyzer runtime operations.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4. WORK BREAKDOWN</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Group Team Allocation &amp; Task Ownership (Team of 4)</a:t>
            </a:r>
          </a:p>
        </p:txBody>
      </p:sp>
      <p:sp>
        <p:nvSpPr>
          <p:cNvPr id="5" name="Rounded Rectangle 4"/>
          <p:cNvSpPr/>
          <p:nvPr/>
        </p:nvSpPr>
        <p:spPr>
          <a:xfrm>
            <a:off x="731520" y="1463040"/>
            <a:ext cx="2496312"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600" b="1">
                <a:solidFill>
                  <a:srgbClr val="38BDF8"/>
                </a:solidFill>
                <a:latin typeface="Segoe UI"/>
              </a:defRPr>
            </a:pPr>
            <a:r>
              <a:rPr lang="en-US" dirty="0"/>
              <a:t>PRATIK</a:t>
            </a:r>
            <a:r>
              <a:rPr dirty="0"/>
              <a:t> </a:t>
            </a:r>
          </a:p>
          <a:p>
            <a:pPr>
              <a:spcAft>
                <a:spcPts val="400"/>
              </a:spcAft>
              <a:defRPr sz="1200" b="1">
                <a:solidFill>
                  <a:srgbClr val="F8FAFC"/>
                </a:solidFill>
                <a:latin typeface="Segoe UI"/>
              </a:defRPr>
            </a:pPr>
            <a:r>
              <a:rPr dirty="0"/>
              <a:t>Ingestion &amp; Stream Engine</a:t>
            </a:r>
          </a:p>
          <a:p>
            <a:pPr>
              <a:spcAft>
                <a:spcPts val="1200"/>
              </a:spcAft>
              <a:defRPr sz="950">
                <a:solidFill>
                  <a:srgbClr val="38BDF8"/>
                </a:solidFill>
                <a:latin typeface="Consolas"/>
              </a:defRPr>
            </a:pPr>
            <a:r>
              <a:rPr dirty="0"/>
              <a:t>Modules: os, io, sys, generators</a:t>
            </a:r>
          </a:p>
          <a:p>
            <a:pPr>
              <a:spcAft>
                <a:spcPts val="400"/>
              </a:spcAft>
              <a:defRPr sz="1100" b="1">
                <a:solidFill>
                  <a:srgbClr val="CBD5E1"/>
                </a:solidFill>
                <a:latin typeface="Segoe UI"/>
              </a:defRPr>
            </a:pPr>
            <a:r>
              <a:rPr dirty="0"/>
              <a:t>Key Deliverables:</a:t>
            </a:r>
          </a:p>
          <a:p>
            <a:pPr>
              <a:spcAft>
                <a:spcPts val="400"/>
              </a:spcAft>
              <a:defRPr sz="1050">
                <a:solidFill>
                  <a:srgbClr val="94A3B8"/>
                </a:solidFill>
                <a:latin typeface="Segoe UI"/>
              </a:defRPr>
            </a:pPr>
            <a:r>
              <a:rPr dirty="0"/>
              <a:t>Builds lazy line streamer with yield generators.</a:t>
            </a:r>
          </a:p>
          <a:p>
            <a:pPr>
              <a:spcAft>
                <a:spcPts val="400"/>
              </a:spcAft>
              <a:defRPr sz="1050">
                <a:solidFill>
                  <a:srgbClr val="94A3B8"/>
                </a:solidFill>
                <a:latin typeface="Segoe UI"/>
              </a:defRPr>
            </a:pPr>
            <a:r>
              <a:rPr dirty="0"/>
              <a:t>Validates file paths, encoding, and permissions.</a:t>
            </a:r>
          </a:p>
          <a:p>
            <a:pPr>
              <a:spcAft>
                <a:spcPts val="400"/>
              </a:spcAft>
              <a:defRPr sz="1050">
                <a:solidFill>
                  <a:srgbClr val="94A3B8"/>
                </a:solidFill>
                <a:latin typeface="Segoe UI"/>
              </a:defRPr>
            </a:pPr>
            <a:r>
              <a:rPr dirty="0"/>
              <a:t>Handles corrupt encodings and I/O exceptions.</a:t>
            </a:r>
          </a:p>
          <a:p>
            <a:pPr>
              <a:spcAft>
                <a:spcPts val="400"/>
              </a:spcAft>
              <a:defRPr sz="1050">
                <a:solidFill>
                  <a:srgbClr val="94A3B8"/>
                </a:solidFill>
                <a:latin typeface="Segoe UI"/>
              </a:defRPr>
            </a:pPr>
            <a:r>
              <a:rPr dirty="0"/>
              <a:t>Delivers zero-memory footprint file reader.</a:t>
            </a:r>
          </a:p>
        </p:txBody>
      </p:sp>
      <p:sp>
        <p:nvSpPr>
          <p:cNvPr id="6" name="Rounded Rectangle 5"/>
          <p:cNvSpPr/>
          <p:nvPr/>
        </p:nvSpPr>
        <p:spPr>
          <a:xfrm>
            <a:off x="3474720" y="1463040"/>
            <a:ext cx="2496312"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600" b="1">
                <a:solidFill>
                  <a:srgbClr val="A78BFA"/>
                </a:solidFill>
                <a:latin typeface="Segoe UI"/>
              </a:defRPr>
            </a:pPr>
            <a:r>
              <a:rPr lang="en-US" dirty="0"/>
              <a:t>TEJAS</a:t>
            </a:r>
            <a:r>
              <a:rPr dirty="0"/>
              <a:t> </a:t>
            </a:r>
          </a:p>
          <a:p>
            <a:pPr>
              <a:spcAft>
                <a:spcPts val="400"/>
              </a:spcAft>
              <a:defRPr sz="1200" b="1">
                <a:solidFill>
                  <a:srgbClr val="F8FAFC"/>
                </a:solidFill>
                <a:latin typeface="Segoe UI"/>
              </a:defRPr>
            </a:pPr>
            <a:r>
              <a:rPr dirty="0"/>
              <a:t>Regex &amp; Event Classifier</a:t>
            </a:r>
          </a:p>
          <a:p>
            <a:pPr>
              <a:spcAft>
                <a:spcPts val="1200"/>
              </a:spcAft>
              <a:defRPr sz="950">
                <a:solidFill>
                  <a:srgbClr val="38BDF8"/>
                </a:solidFill>
                <a:latin typeface="Consolas"/>
              </a:defRPr>
            </a:pPr>
            <a:r>
              <a:rPr dirty="0"/>
              <a:t>Modules: re, typing, logging</a:t>
            </a:r>
          </a:p>
          <a:p>
            <a:pPr>
              <a:spcAft>
                <a:spcPts val="400"/>
              </a:spcAft>
              <a:defRPr sz="1100" b="1">
                <a:solidFill>
                  <a:srgbClr val="CBD5E1"/>
                </a:solidFill>
                <a:latin typeface="Segoe UI"/>
              </a:defRPr>
            </a:pPr>
            <a:r>
              <a:rPr dirty="0"/>
              <a:t>Key Deliverables:</a:t>
            </a:r>
          </a:p>
          <a:p>
            <a:pPr>
              <a:spcAft>
                <a:spcPts val="400"/>
              </a:spcAft>
              <a:defRPr sz="1050">
                <a:solidFill>
                  <a:srgbClr val="94A3B8"/>
                </a:solidFill>
                <a:latin typeface="Segoe UI"/>
              </a:defRPr>
            </a:pPr>
            <a:r>
              <a:rPr dirty="0"/>
              <a:t>Constructs a compiled regex with named groups.</a:t>
            </a:r>
          </a:p>
          <a:p>
            <a:pPr>
              <a:spcAft>
                <a:spcPts val="400"/>
              </a:spcAft>
              <a:defRPr sz="1050">
                <a:solidFill>
                  <a:srgbClr val="94A3B8"/>
                </a:solidFill>
                <a:latin typeface="Segoe UI"/>
              </a:defRPr>
            </a:pPr>
            <a:r>
              <a:rPr dirty="0"/>
              <a:t>Parses timestamp, level, module, and message.</a:t>
            </a:r>
          </a:p>
          <a:p>
            <a:pPr>
              <a:spcAft>
                <a:spcPts val="400"/>
              </a:spcAft>
              <a:defRPr sz="1050">
                <a:solidFill>
                  <a:srgbClr val="94A3B8"/>
                </a:solidFill>
                <a:latin typeface="Segoe UI"/>
              </a:defRPr>
            </a:pPr>
            <a:r>
              <a:rPr dirty="0"/>
              <a:t>Returns a structured </a:t>
            </a:r>
            <a:r>
              <a:rPr dirty="0" err="1"/>
              <a:t>dict</a:t>
            </a:r>
            <a:r>
              <a:rPr dirty="0"/>
              <a:t> for each valid line.</a:t>
            </a:r>
          </a:p>
          <a:p>
            <a:pPr>
              <a:spcAft>
                <a:spcPts val="400"/>
              </a:spcAft>
              <a:defRPr sz="1050">
                <a:solidFill>
                  <a:srgbClr val="94A3B8"/>
                </a:solidFill>
                <a:latin typeface="Segoe UI"/>
              </a:defRPr>
            </a:pPr>
            <a:r>
              <a:rPr dirty="0"/>
              <a:t>Returns None for malformed lines (counted as skipped).</a:t>
            </a:r>
          </a:p>
        </p:txBody>
      </p:sp>
      <p:sp>
        <p:nvSpPr>
          <p:cNvPr id="7" name="Rounded Rectangle 6"/>
          <p:cNvSpPr/>
          <p:nvPr/>
        </p:nvSpPr>
        <p:spPr>
          <a:xfrm>
            <a:off x="6217919" y="1463040"/>
            <a:ext cx="2618431"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600" b="1">
                <a:solidFill>
                  <a:srgbClr val="FB923C"/>
                </a:solidFill>
                <a:latin typeface="Segoe UI"/>
              </a:defRPr>
            </a:pPr>
            <a:r>
              <a:rPr lang="en-US" dirty="0"/>
              <a:t>VAISHNAVI</a:t>
            </a:r>
            <a:endParaRPr dirty="0"/>
          </a:p>
          <a:p>
            <a:pPr>
              <a:spcAft>
                <a:spcPts val="400"/>
              </a:spcAft>
              <a:defRPr sz="1200" b="1">
                <a:solidFill>
                  <a:srgbClr val="F8FAFC"/>
                </a:solidFill>
                <a:latin typeface="Segoe UI"/>
              </a:defRPr>
            </a:pPr>
            <a:r>
              <a:rPr dirty="0"/>
              <a:t>Analytics &amp; Statistical Engine</a:t>
            </a:r>
          </a:p>
          <a:p>
            <a:pPr>
              <a:spcAft>
                <a:spcPts val="1200"/>
              </a:spcAft>
              <a:defRPr sz="950">
                <a:solidFill>
                  <a:srgbClr val="38BDF8"/>
                </a:solidFill>
                <a:latin typeface="Consolas"/>
              </a:defRPr>
            </a:pPr>
            <a:r>
              <a:rPr dirty="0"/>
              <a:t>Modules: collections.Counter, typing</a:t>
            </a:r>
          </a:p>
          <a:p>
            <a:pPr>
              <a:spcAft>
                <a:spcPts val="400"/>
              </a:spcAft>
              <a:defRPr sz="1100" b="1">
                <a:solidFill>
                  <a:srgbClr val="CBD5E1"/>
                </a:solidFill>
                <a:latin typeface="Segoe UI"/>
              </a:defRPr>
            </a:pPr>
            <a:r>
              <a:rPr dirty="0"/>
              <a:t>Key Deliverables:</a:t>
            </a:r>
          </a:p>
          <a:p>
            <a:pPr>
              <a:spcAft>
                <a:spcPts val="400"/>
              </a:spcAft>
              <a:defRPr sz="1050">
                <a:solidFill>
                  <a:srgbClr val="94A3B8"/>
                </a:solidFill>
                <a:latin typeface="Segoe UI"/>
              </a:defRPr>
            </a:pPr>
            <a:r>
              <a:rPr dirty="0"/>
              <a:t>Implements Counter for severity frequencies.</a:t>
            </a:r>
          </a:p>
          <a:p>
            <a:pPr>
              <a:spcAft>
                <a:spcPts val="400"/>
              </a:spcAft>
              <a:defRPr sz="1050">
                <a:solidFill>
                  <a:srgbClr val="94A3B8"/>
                </a:solidFill>
                <a:latin typeface="Segoe UI"/>
              </a:defRPr>
            </a:pPr>
            <a:r>
              <a:rPr dirty="0"/>
              <a:t>Extracts top-N recurring error signatures.</a:t>
            </a:r>
          </a:p>
          <a:p>
            <a:pPr>
              <a:spcAft>
                <a:spcPts val="400"/>
              </a:spcAft>
              <a:defRPr sz="1050">
                <a:solidFill>
                  <a:srgbClr val="94A3B8"/>
                </a:solidFill>
                <a:latin typeface="Segoe UI"/>
              </a:defRPr>
            </a:pPr>
            <a:r>
              <a:rPr dirty="0"/>
              <a:t>Computes parse-success and error/warning rates.</a:t>
            </a:r>
          </a:p>
          <a:p>
            <a:pPr>
              <a:spcAft>
                <a:spcPts val="400"/>
              </a:spcAft>
              <a:defRPr sz="1050">
                <a:solidFill>
                  <a:srgbClr val="94A3B8"/>
                </a:solidFill>
                <a:latin typeface="Segoe UI"/>
              </a:defRPr>
            </a:pPr>
            <a:r>
              <a:rPr dirty="0"/>
              <a:t>Keys errors as 'module: message' to cluster them.</a:t>
            </a:r>
          </a:p>
        </p:txBody>
      </p:sp>
      <p:sp>
        <p:nvSpPr>
          <p:cNvPr id="8" name="Rounded Rectangle 7"/>
          <p:cNvSpPr/>
          <p:nvPr/>
        </p:nvSpPr>
        <p:spPr>
          <a:xfrm>
            <a:off x="8961120" y="1463040"/>
            <a:ext cx="2496312"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600" b="1">
                <a:solidFill>
                  <a:srgbClr val="34D399"/>
                </a:solidFill>
                <a:latin typeface="Segoe UI"/>
              </a:defRPr>
            </a:pPr>
            <a:r>
              <a:rPr lang="en-US" dirty="0"/>
              <a:t>ARPIT</a:t>
            </a:r>
            <a:r>
              <a:rPr dirty="0"/>
              <a:t> </a:t>
            </a:r>
          </a:p>
          <a:p>
            <a:pPr>
              <a:spcAft>
                <a:spcPts val="400"/>
              </a:spcAft>
              <a:defRPr sz="1200" b="1">
                <a:solidFill>
                  <a:srgbClr val="F8FAFC"/>
                </a:solidFill>
                <a:latin typeface="Segoe UI"/>
              </a:defRPr>
            </a:pPr>
            <a:r>
              <a:rPr dirty="0"/>
              <a:t>Reporting, CLI &amp; Test Suite</a:t>
            </a:r>
          </a:p>
          <a:p>
            <a:pPr>
              <a:spcAft>
                <a:spcPts val="1200"/>
              </a:spcAft>
              <a:defRPr sz="950">
                <a:solidFill>
                  <a:srgbClr val="38BDF8"/>
                </a:solidFill>
                <a:latin typeface="Consolas"/>
              </a:defRPr>
            </a:pPr>
            <a:r>
              <a:rPr dirty="0"/>
              <a:t>Modules: csv, logging, </a:t>
            </a:r>
            <a:r>
              <a:rPr dirty="0" err="1"/>
              <a:t>unittest</a:t>
            </a:r>
            <a:endParaRPr dirty="0"/>
          </a:p>
          <a:p>
            <a:pPr>
              <a:spcAft>
                <a:spcPts val="400"/>
              </a:spcAft>
              <a:defRPr sz="1100" b="1">
                <a:solidFill>
                  <a:srgbClr val="CBD5E1"/>
                </a:solidFill>
                <a:latin typeface="Segoe UI"/>
              </a:defRPr>
            </a:pPr>
            <a:r>
              <a:rPr dirty="0"/>
              <a:t>Key Deliverables:</a:t>
            </a:r>
          </a:p>
          <a:p>
            <a:pPr>
              <a:spcAft>
                <a:spcPts val="400"/>
              </a:spcAft>
              <a:defRPr sz="1050">
                <a:solidFill>
                  <a:srgbClr val="94A3B8"/>
                </a:solidFill>
                <a:latin typeface="Segoe UI"/>
              </a:defRPr>
            </a:pPr>
            <a:r>
              <a:rPr dirty="0"/>
              <a:t>Generates executive CLI console summary.</a:t>
            </a:r>
          </a:p>
          <a:p>
            <a:pPr>
              <a:spcAft>
                <a:spcPts val="400"/>
              </a:spcAft>
              <a:defRPr sz="1050">
                <a:solidFill>
                  <a:srgbClr val="94A3B8"/>
                </a:solidFill>
                <a:latin typeface="Segoe UI"/>
              </a:defRPr>
            </a:pPr>
            <a:r>
              <a:rPr dirty="0"/>
              <a:t>Exports structured CSV reports for analytics.</a:t>
            </a:r>
          </a:p>
          <a:p>
            <a:pPr>
              <a:spcAft>
                <a:spcPts val="400"/>
              </a:spcAft>
              <a:defRPr sz="1050">
                <a:solidFill>
                  <a:srgbClr val="94A3B8"/>
                </a:solidFill>
                <a:latin typeface="Segoe UI"/>
              </a:defRPr>
            </a:pPr>
            <a:r>
              <a:rPr dirty="0"/>
              <a:t>Builds analyzer self-audit logging mechanism.</a:t>
            </a:r>
          </a:p>
          <a:p>
            <a:pPr>
              <a:spcAft>
                <a:spcPts val="400"/>
              </a:spcAft>
              <a:defRPr sz="1050">
                <a:solidFill>
                  <a:srgbClr val="94A3B8"/>
                </a:solidFill>
                <a:latin typeface="Segoe UI"/>
              </a:defRPr>
            </a:pPr>
            <a:r>
              <a:rPr dirty="0"/>
              <a:t>Develops unit test suite covering edge cases.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5. TECHNICAL FOUNDATION</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Course Python Concepts &amp; Skills Applied</a:t>
            </a:r>
          </a:p>
        </p:txBody>
      </p:sp>
      <p:sp>
        <p:nvSpPr>
          <p:cNvPr id="5" name="Rounded Rectangle 4"/>
          <p:cNvSpPr/>
          <p:nvPr/>
        </p:nvSpPr>
        <p:spPr>
          <a:xfrm>
            <a:off x="731520" y="1463040"/>
            <a:ext cx="52395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38BDF8"/>
                </a:solidFill>
                <a:latin typeface="Segoe UI"/>
              </a:defRPr>
            </a:pPr>
            <a:r>
              <a:t>File Handling &amp; Generators (Memory Efficiency)</a:t>
            </a:r>
          </a:p>
          <a:p>
            <a:pPr>
              <a:spcAft>
                <a:spcPts val="600"/>
              </a:spcAft>
              <a:defRPr sz="1100">
                <a:solidFill>
                  <a:srgbClr val="94A3B8"/>
                </a:solidFill>
                <a:latin typeface="Segoe UI"/>
              </a:defRPr>
            </a:pPr>
            <a:r>
              <a:t>Context managers (with open(...)) guarantee automatic cleanup of OS file descriptors.</a:t>
            </a:r>
          </a:p>
          <a:p>
            <a:pPr>
              <a:spcAft>
                <a:spcPts val="600"/>
              </a:spcAft>
              <a:defRPr sz="1100">
                <a:solidFill>
                  <a:srgbClr val="94A3B8"/>
                </a:solidFill>
                <a:latin typeface="Segoe UI"/>
              </a:defRPr>
            </a:pPr>
            <a:r>
              <a:t>Lazy iteration via yield enables streaming multi-gigabyte files with ~15MB constant memory.</a:t>
            </a:r>
          </a:p>
          <a:p>
            <a:pPr>
              <a:spcAft>
                <a:spcPts val="600"/>
              </a:spcAft>
              <a:defRPr sz="1100">
                <a:solidFill>
                  <a:srgbClr val="94A3B8"/>
                </a:solidFill>
                <a:latin typeface="Segoe UI"/>
              </a:defRPr>
            </a:pPr>
            <a:r>
              <a:t>Cross-platform file path resolution using pathlib and os.path.</a:t>
            </a:r>
          </a:p>
        </p:txBody>
      </p:sp>
      <p:sp>
        <p:nvSpPr>
          <p:cNvPr id="6" name="Rounded Rectangle 5"/>
          <p:cNvSpPr/>
          <p:nvPr/>
        </p:nvSpPr>
        <p:spPr>
          <a:xfrm>
            <a:off x="6217920" y="1463040"/>
            <a:ext cx="52395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A78BFA"/>
                </a:solidFill>
                <a:latin typeface="Segoe UI"/>
              </a:defRPr>
            </a:pPr>
            <a:r>
              <a:t>Regular Expressions (re) (Pattern Matching)</a:t>
            </a:r>
          </a:p>
          <a:p>
            <a:pPr>
              <a:spcAft>
                <a:spcPts val="600"/>
              </a:spcAft>
              <a:defRPr sz="1100">
                <a:solidFill>
                  <a:srgbClr val="94A3B8"/>
                </a:solidFill>
                <a:latin typeface="Segoe UI"/>
              </a:defRPr>
            </a:pPr>
            <a:r>
              <a:t>Compiled re.compile() patterns cached for optimal sub-millisecond execution.</a:t>
            </a:r>
          </a:p>
          <a:p>
            <a:pPr>
              <a:spcAft>
                <a:spcPts val="600"/>
              </a:spcAft>
              <a:defRPr sz="1100">
                <a:solidFill>
                  <a:srgbClr val="94A3B8"/>
                </a:solidFill>
                <a:latin typeface="Segoe UI"/>
              </a:defRPr>
            </a:pPr>
            <a:r>
              <a:t>Named capture groups: (?P&lt;timestamp&gt;...), (?P&lt;level&gt;...), (?P&lt;module&gt;...).</a:t>
            </a:r>
          </a:p>
          <a:p>
            <a:pPr>
              <a:spcAft>
                <a:spcPts val="600"/>
              </a:spcAft>
              <a:defRPr sz="1100">
                <a:solidFill>
                  <a:srgbClr val="94A3B8"/>
                </a:solidFill>
                <a:latin typeface="Segoe UI"/>
              </a:defRPr>
            </a:pPr>
            <a:r>
              <a:t>Multi-format fallback expressions to handle varied enterprise log layouts.</a:t>
            </a:r>
          </a:p>
        </p:txBody>
      </p:sp>
      <p:sp>
        <p:nvSpPr>
          <p:cNvPr id="7" name="Rounded Rectangle 6"/>
          <p:cNvSpPr/>
          <p:nvPr/>
        </p:nvSpPr>
        <p:spPr>
          <a:xfrm>
            <a:off x="731520" y="3931920"/>
            <a:ext cx="52395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FB923C"/>
                </a:solidFill>
                <a:latin typeface="Segoe UI"/>
              </a:defRPr>
            </a:pPr>
            <a:r>
              <a:t>Advanced Data Structures (Aggregations &amp; Analytics)</a:t>
            </a:r>
          </a:p>
          <a:p>
            <a:pPr>
              <a:spcAft>
                <a:spcPts val="600"/>
              </a:spcAft>
              <a:defRPr sz="1100">
                <a:solidFill>
                  <a:srgbClr val="94A3B8"/>
                </a:solidFill>
                <a:latin typeface="Segoe UI"/>
              </a:defRPr>
            </a:pPr>
            <a:r>
              <a:t>collections.Counter used for instant frequency counts and .most_common(N) lookups.</a:t>
            </a:r>
          </a:p>
          <a:p>
            <a:pPr>
              <a:spcAft>
                <a:spcPts val="600"/>
              </a:spcAft>
              <a:defRPr sz="1100">
                <a:solidFill>
                  <a:srgbClr val="94A3B8"/>
                </a:solidFill>
                <a:latin typeface="Segoe UI"/>
              </a:defRPr>
            </a:pPr>
            <a:r>
              <a:t>Dictionaries carry structured events (timestamp, level, module, message) between stages.</a:t>
            </a:r>
          </a:p>
          <a:p>
            <a:pPr>
              <a:spcAft>
                <a:spcPts val="600"/>
              </a:spcAft>
              <a:defRPr sz="1100">
                <a:solidFill>
                  <a:srgbClr val="94A3B8"/>
                </a:solidFill>
                <a:latin typeface="Segoe UI"/>
              </a:defRPr>
            </a:pPr>
            <a:r>
              <a:t>Errors keyed as 'module: message' so identical failures are grouped and ranked.</a:t>
            </a:r>
          </a:p>
        </p:txBody>
      </p:sp>
      <p:sp>
        <p:nvSpPr>
          <p:cNvPr id="8" name="Rounded Rectangle 7"/>
          <p:cNvSpPr/>
          <p:nvPr/>
        </p:nvSpPr>
        <p:spPr>
          <a:xfrm>
            <a:off x="6217920" y="3931920"/>
            <a:ext cx="52395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34D399"/>
                </a:solidFill>
                <a:latin typeface="Segoe UI"/>
              </a:defRPr>
            </a:pPr>
            <a:r>
              <a:t>Defensive Programming &amp; Logging (Robustness &amp; Auditability)</a:t>
            </a:r>
          </a:p>
          <a:p>
            <a:pPr>
              <a:spcAft>
                <a:spcPts val="600"/>
              </a:spcAft>
              <a:defRPr sz="1100">
                <a:solidFill>
                  <a:srgbClr val="94A3B8"/>
                </a:solidFill>
                <a:latin typeface="Segoe UI"/>
              </a:defRPr>
            </a:pPr>
            <a:r>
              <a:t>Granular try-except blocks catching FileNotFoundError, PermissionError, and IOError.</a:t>
            </a:r>
          </a:p>
          <a:p>
            <a:pPr>
              <a:spcAft>
                <a:spcPts val="600"/>
              </a:spcAft>
              <a:defRPr sz="1100">
                <a:solidFill>
                  <a:srgbClr val="94A3B8"/>
                </a:solidFill>
                <a:latin typeface="Segoe UI"/>
              </a:defRPr>
            </a:pPr>
            <a:r>
              <a:t>Standard logging module writes an internal audit trail (application.log).</a:t>
            </a:r>
          </a:p>
          <a:p>
            <a:pPr>
              <a:spcAft>
                <a:spcPts val="600"/>
              </a:spcAft>
              <a:defRPr sz="1100">
                <a:solidFill>
                  <a:srgbClr val="94A3B8"/>
                </a:solidFill>
                <a:latin typeface="Segoe UI"/>
              </a:defRPr>
            </a:pPr>
            <a:r>
              <a:t>Separation of concerns across modules with a clean CLI interface via argparse.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6. SYSTEM ARCHITECTURE</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End-to-End Processing Pipeline &amp; Data Flow</a:t>
            </a:r>
          </a:p>
        </p:txBody>
      </p:sp>
      <p:sp>
        <p:nvSpPr>
          <p:cNvPr id="5" name="Rounded Rectangle 4"/>
          <p:cNvSpPr/>
          <p:nvPr/>
        </p:nvSpPr>
        <p:spPr>
          <a:xfrm>
            <a:off x="731520" y="1463040"/>
            <a:ext cx="2496312" cy="29260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200"/>
              </a:spcAft>
              <a:defRPr sz="1250" b="1">
                <a:solidFill>
                  <a:srgbClr val="38BDF8"/>
                </a:solidFill>
                <a:latin typeface="Segoe UI"/>
              </a:defRPr>
            </a:pPr>
            <a:r>
              <a:rPr dirty="0"/>
              <a:t>Stage 1 · </a:t>
            </a:r>
            <a:r>
              <a:rPr dirty="0" err="1"/>
              <a:t>src</a:t>
            </a:r>
            <a:r>
              <a:rPr dirty="0"/>
              <a:t>/</a:t>
            </a:r>
            <a:r>
              <a:rPr dirty="0" err="1"/>
              <a:t>reader.py</a:t>
            </a:r>
            <a:endParaRPr dirty="0"/>
          </a:p>
          <a:p>
            <a:pPr>
              <a:spcAft>
                <a:spcPts val="1000"/>
              </a:spcAft>
              <a:defRPr sz="1100" b="1">
                <a:solidFill>
                  <a:srgbClr val="F8FAFC"/>
                </a:solidFill>
                <a:latin typeface="Segoe UI"/>
              </a:defRPr>
            </a:pPr>
            <a:r>
              <a:rPr lang="en-US" dirty="0"/>
              <a:t>                PRATIK</a:t>
            </a:r>
            <a:r>
              <a:rPr dirty="0"/>
              <a:t> </a:t>
            </a:r>
          </a:p>
          <a:p>
            <a:pPr>
              <a:spcAft>
                <a:spcPts val="400"/>
              </a:spcAft>
              <a:defRPr sz="1100">
                <a:solidFill>
                  <a:srgbClr val="94A3B8"/>
                </a:solidFill>
                <a:latin typeface="Segoe UI"/>
              </a:defRPr>
            </a:pPr>
            <a:r>
              <a:rPr dirty="0"/>
              <a:t>• Lazy file streaming</a:t>
            </a:r>
          </a:p>
          <a:p>
            <a:pPr>
              <a:spcAft>
                <a:spcPts val="400"/>
              </a:spcAft>
              <a:defRPr sz="1100">
                <a:solidFill>
                  <a:srgbClr val="94A3B8"/>
                </a:solidFill>
                <a:latin typeface="Segoe UI"/>
              </a:defRPr>
            </a:pPr>
            <a:r>
              <a:rPr dirty="0"/>
              <a:t>• Line generator (yield)</a:t>
            </a:r>
          </a:p>
          <a:p>
            <a:pPr>
              <a:spcAft>
                <a:spcPts val="400"/>
              </a:spcAft>
              <a:defRPr sz="1100">
                <a:solidFill>
                  <a:srgbClr val="94A3B8"/>
                </a:solidFill>
                <a:latin typeface="Segoe UI"/>
              </a:defRPr>
            </a:pPr>
            <a:r>
              <a:rPr dirty="0"/>
              <a:t>• Path &amp; I/O validation</a:t>
            </a:r>
          </a:p>
        </p:txBody>
      </p:sp>
      <p:sp>
        <p:nvSpPr>
          <p:cNvPr id="6" name="Rounded Rectangle 5"/>
          <p:cNvSpPr/>
          <p:nvPr/>
        </p:nvSpPr>
        <p:spPr>
          <a:xfrm>
            <a:off x="3474720" y="1463040"/>
            <a:ext cx="2496312" cy="29260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200"/>
              </a:spcAft>
              <a:defRPr sz="1250" b="1">
                <a:solidFill>
                  <a:srgbClr val="A78BFA"/>
                </a:solidFill>
                <a:latin typeface="Segoe UI"/>
              </a:defRPr>
            </a:pPr>
            <a:r>
              <a:rPr dirty="0"/>
              <a:t>Stage 2 · </a:t>
            </a:r>
            <a:r>
              <a:rPr dirty="0" err="1"/>
              <a:t>src</a:t>
            </a:r>
            <a:r>
              <a:rPr dirty="0"/>
              <a:t>/</a:t>
            </a:r>
            <a:r>
              <a:rPr dirty="0" err="1"/>
              <a:t>parser.py</a:t>
            </a:r>
            <a:endParaRPr dirty="0"/>
          </a:p>
          <a:p>
            <a:pPr>
              <a:spcAft>
                <a:spcPts val="1000"/>
              </a:spcAft>
              <a:defRPr sz="1100" b="1">
                <a:solidFill>
                  <a:srgbClr val="F8FAFC"/>
                </a:solidFill>
                <a:latin typeface="Segoe UI"/>
              </a:defRPr>
            </a:pPr>
            <a:r>
              <a:rPr lang="en-US" dirty="0"/>
              <a:t>                  TEJAS</a:t>
            </a:r>
            <a:r>
              <a:rPr dirty="0"/>
              <a:t> </a:t>
            </a:r>
          </a:p>
          <a:p>
            <a:pPr>
              <a:spcAft>
                <a:spcPts val="400"/>
              </a:spcAft>
              <a:defRPr sz="1100">
                <a:solidFill>
                  <a:srgbClr val="94A3B8"/>
                </a:solidFill>
                <a:latin typeface="Segoe UI"/>
              </a:defRPr>
            </a:pPr>
            <a:r>
              <a:rPr dirty="0"/>
              <a:t>• Compiled regex</a:t>
            </a:r>
          </a:p>
          <a:p>
            <a:pPr>
              <a:spcAft>
                <a:spcPts val="400"/>
              </a:spcAft>
              <a:defRPr sz="1100">
                <a:solidFill>
                  <a:srgbClr val="94A3B8"/>
                </a:solidFill>
                <a:latin typeface="Segoe UI"/>
              </a:defRPr>
            </a:pPr>
            <a:r>
              <a:rPr dirty="0"/>
              <a:t>• Named groups -&gt; </a:t>
            </a:r>
            <a:r>
              <a:rPr dirty="0" err="1"/>
              <a:t>dict</a:t>
            </a:r>
            <a:endParaRPr dirty="0"/>
          </a:p>
          <a:p>
            <a:pPr>
              <a:spcAft>
                <a:spcPts val="400"/>
              </a:spcAft>
              <a:defRPr sz="1100">
                <a:solidFill>
                  <a:srgbClr val="94A3B8"/>
                </a:solidFill>
                <a:latin typeface="Segoe UI"/>
              </a:defRPr>
            </a:pPr>
            <a:r>
              <a:rPr dirty="0"/>
              <a:t>• None = skipped line</a:t>
            </a:r>
          </a:p>
        </p:txBody>
      </p:sp>
      <p:sp>
        <p:nvSpPr>
          <p:cNvPr id="7" name="Rounded Rectangle 6"/>
          <p:cNvSpPr/>
          <p:nvPr/>
        </p:nvSpPr>
        <p:spPr>
          <a:xfrm>
            <a:off x="6217920" y="1463040"/>
            <a:ext cx="2496312" cy="29260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200"/>
              </a:spcAft>
              <a:defRPr sz="1250" b="1">
                <a:solidFill>
                  <a:srgbClr val="FB923C"/>
                </a:solidFill>
                <a:latin typeface="Segoe UI"/>
              </a:defRPr>
            </a:pPr>
            <a:r>
              <a:rPr dirty="0"/>
              <a:t>Stage 3 · </a:t>
            </a:r>
            <a:r>
              <a:rPr dirty="0" err="1"/>
              <a:t>src</a:t>
            </a:r>
            <a:r>
              <a:rPr dirty="0"/>
              <a:t>/</a:t>
            </a:r>
            <a:r>
              <a:rPr dirty="0" err="1"/>
              <a:t>analyzer.py</a:t>
            </a:r>
            <a:endParaRPr dirty="0"/>
          </a:p>
          <a:p>
            <a:pPr>
              <a:spcAft>
                <a:spcPts val="1000"/>
              </a:spcAft>
              <a:defRPr sz="1100" b="1">
                <a:solidFill>
                  <a:srgbClr val="F8FAFC"/>
                </a:solidFill>
                <a:latin typeface="Segoe UI"/>
              </a:defRPr>
            </a:pPr>
            <a:r>
              <a:rPr lang="en-US" dirty="0"/>
              <a:t>              VAISHNAVI</a:t>
            </a:r>
            <a:endParaRPr dirty="0"/>
          </a:p>
          <a:p>
            <a:pPr>
              <a:spcAft>
                <a:spcPts val="400"/>
              </a:spcAft>
              <a:defRPr sz="1100">
                <a:solidFill>
                  <a:srgbClr val="94A3B8"/>
                </a:solidFill>
                <a:latin typeface="Segoe UI"/>
              </a:defRPr>
            </a:pPr>
            <a:r>
              <a:rPr dirty="0"/>
              <a:t>• collections.Counter</a:t>
            </a:r>
          </a:p>
          <a:p>
            <a:pPr>
              <a:spcAft>
                <a:spcPts val="400"/>
              </a:spcAft>
              <a:defRPr sz="1100">
                <a:solidFill>
                  <a:srgbClr val="94A3B8"/>
                </a:solidFill>
                <a:latin typeface="Segoe UI"/>
              </a:defRPr>
            </a:pPr>
            <a:r>
              <a:rPr dirty="0"/>
              <a:t>• Level &amp; frequency stats</a:t>
            </a:r>
          </a:p>
          <a:p>
            <a:pPr>
              <a:spcAft>
                <a:spcPts val="400"/>
              </a:spcAft>
              <a:defRPr sz="1100">
                <a:solidFill>
                  <a:srgbClr val="94A3B8"/>
                </a:solidFill>
                <a:latin typeface="Segoe UI"/>
              </a:defRPr>
            </a:pPr>
            <a:r>
              <a:rPr dirty="0"/>
              <a:t>• Top-N recurring errors</a:t>
            </a:r>
          </a:p>
        </p:txBody>
      </p:sp>
      <p:sp>
        <p:nvSpPr>
          <p:cNvPr id="8" name="Rounded Rectangle 7"/>
          <p:cNvSpPr/>
          <p:nvPr/>
        </p:nvSpPr>
        <p:spPr>
          <a:xfrm>
            <a:off x="8961120" y="1463040"/>
            <a:ext cx="2496312" cy="29260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200"/>
              </a:spcAft>
              <a:defRPr sz="1250" b="1">
                <a:solidFill>
                  <a:srgbClr val="34D399"/>
                </a:solidFill>
                <a:latin typeface="Segoe UI"/>
              </a:defRPr>
            </a:pPr>
            <a:r>
              <a:rPr dirty="0"/>
              <a:t>Stage 4 · </a:t>
            </a:r>
            <a:r>
              <a:rPr dirty="0" err="1"/>
              <a:t>src</a:t>
            </a:r>
            <a:r>
              <a:rPr dirty="0"/>
              <a:t>/</a:t>
            </a:r>
            <a:r>
              <a:rPr dirty="0" err="1"/>
              <a:t>reporter.py</a:t>
            </a:r>
            <a:endParaRPr dirty="0"/>
          </a:p>
          <a:p>
            <a:pPr>
              <a:spcAft>
                <a:spcPts val="1000"/>
              </a:spcAft>
              <a:defRPr sz="1100" b="1">
                <a:solidFill>
                  <a:srgbClr val="F8FAFC"/>
                </a:solidFill>
                <a:latin typeface="Segoe UI"/>
              </a:defRPr>
            </a:pPr>
            <a:r>
              <a:rPr lang="en-US" dirty="0"/>
              <a:t>                   ARPIT</a:t>
            </a:r>
            <a:endParaRPr dirty="0"/>
          </a:p>
          <a:p>
            <a:pPr>
              <a:spcAft>
                <a:spcPts val="400"/>
              </a:spcAft>
              <a:defRPr sz="1100">
                <a:solidFill>
                  <a:srgbClr val="94A3B8"/>
                </a:solidFill>
                <a:latin typeface="Segoe UI"/>
              </a:defRPr>
            </a:pPr>
            <a:r>
              <a:rPr dirty="0"/>
              <a:t>• Console summary</a:t>
            </a:r>
          </a:p>
          <a:p>
            <a:pPr>
              <a:spcAft>
                <a:spcPts val="400"/>
              </a:spcAft>
              <a:defRPr sz="1100">
                <a:solidFill>
                  <a:srgbClr val="94A3B8"/>
                </a:solidFill>
                <a:latin typeface="Segoe UI"/>
              </a:defRPr>
            </a:pPr>
            <a:r>
              <a:rPr dirty="0"/>
              <a:t>• Text + CSV export</a:t>
            </a:r>
          </a:p>
          <a:p>
            <a:pPr>
              <a:spcAft>
                <a:spcPts val="400"/>
              </a:spcAft>
              <a:defRPr sz="1100">
                <a:solidFill>
                  <a:srgbClr val="94A3B8"/>
                </a:solidFill>
                <a:latin typeface="Segoe UI"/>
              </a:defRPr>
            </a:pPr>
            <a:r>
              <a:rPr dirty="0"/>
              <a:t>• Auto-create folder</a:t>
            </a:r>
          </a:p>
        </p:txBody>
      </p:sp>
      <p:sp>
        <p:nvSpPr>
          <p:cNvPr id="9" name="Rounded Rectangle 8"/>
          <p:cNvSpPr/>
          <p:nvPr/>
        </p:nvSpPr>
        <p:spPr>
          <a:xfrm>
            <a:off x="731520" y="4617720"/>
            <a:ext cx="10725912"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300" b="1">
                <a:solidFill>
                  <a:srgbClr val="38BDF8"/>
                </a:solidFill>
                <a:latin typeface="Segoe UI"/>
              </a:defRPr>
            </a:pPr>
            <a:r>
              <a:t>Key Architectural Highlights</a:t>
            </a:r>
          </a:p>
          <a:p>
            <a:pPr>
              <a:spcAft>
                <a:spcPts val="600"/>
              </a:spcAft>
              <a:defRPr sz="1050">
                <a:solidFill>
                  <a:srgbClr val="94A3B8"/>
                </a:solidFill>
                <a:latin typeface="Segoe UI"/>
              </a:defRPr>
            </a:pPr>
            <a:r>
              <a:t>Orchestration (main.py): the CLI entry point wires all four stages together and configures logging — shared by the whole team.</a:t>
            </a:r>
          </a:p>
          <a:p>
            <a:pPr>
              <a:spcAft>
                <a:spcPts val="600"/>
              </a:spcAft>
              <a:defRPr sz="1050">
                <a:solidFill>
                  <a:srgbClr val="94A3B8"/>
                </a:solidFill>
                <a:latin typeface="Segoe UI"/>
              </a:defRPr>
            </a:pPr>
            <a:r>
              <a:t>Decoupled Pipeline Design: ingestion, parsing, aggregation, and export are distinct, single-responsibility layers owned one-per-member.</a:t>
            </a:r>
          </a:p>
          <a:p>
            <a:pPr>
              <a:spcAft>
                <a:spcPts val="600"/>
              </a:spcAft>
              <a:defRPr sz="1050">
                <a:solidFill>
                  <a:srgbClr val="94A3B8"/>
                </a:solidFill>
                <a:latin typeface="Segoe UI"/>
              </a:defRPr>
            </a:pPr>
            <a:r>
              <a:t>Memory-Safe Streaming: lines are yielded one at a time and aggregated into a Counter without holding the whole file in memory.</a:t>
            </a:r>
          </a:p>
          <a:p>
            <a:pPr>
              <a:spcAft>
                <a:spcPts val="600"/>
              </a:spcAft>
              <a:defRPr sz="1050">
                <a:solidFill>
                  <a:srgbClr val="94A3B8"/>
                </a:solidFill>
                <a:latin typeface="Segoe UI"/>
              </a:defRPr>
            </a:pPr>
            <a:r>
              <a:t>Production Reliability: corrupted lines or a missing log file are handled gracefully without terminating the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MODULE 1 OF 4  ·  SRC/READER.PY</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Stage 1 — File Ingestion &amp; Memory-Safe Streaming</a:t>
            </a:r>
          </a:p>
        </p:txBody>
      </p:sp>
      <p:sp>
        <p:nvSpPr>
          <p:cNvPr id="5" name="Rounded Rectangle 4"/>
          <p:cNvSpPr/>
          <p:nvPr/>
        </p:nvSpPr>
        <p:spPr>
          <a:xfrm>
            <a:off x="731520" y="1463040"/>
            <a:ext cx="539496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600" b="1">
                <a:solidFill>
                  <a:srgbClr val="38BDF8"/>
                </a:solidFill>
                <a:latin typeface="Segoe UI"/>
              </a:defRPr>
            </a:pPr>
            <a:r>
              <a:t>What reader.py does</a:t>
            </a:r>
          </a:p>
          <a:p>
            <a:pPr>
              <a:spcAft>
                <a:spcPts val="600"/>
              </a:spcAft>
              <a:defRPr sz="1250">
                <a:solidFill>
                  <a:srgbClr val="94A3B8"/>
                </a:solidFill>
                <a:latin typeface="Segoe UI"/>
              </a:defRPr>
            </a:pPr>
            <a:r>
              <a:t>read_log_stream() is a GENERATOR: it uses 'yield' to hand back one line at a time instead of loading the whole file.</a:t>
            </a:r>
          </a:p>
          <a:p>
            <a:pPr>
              <a:spcAft>
                <a:spcPts val="600"/>
              </a:spcAft>
              <a:defRPr sz="1250">
                <a:solidFill>
                  <a:srgbClr val="94A3B8"/>
                </a:solidFill>
                <a:latin typeface="Segoe UI"/>
              </a:defRPr>
            </a:pPr>
            <a:r>
              <a:t>Why: a 5 GB log file would crash the program if read with .read() or .readlines(). Streaming keeps memory flat.</a:t>
            </a:r>
          </a:p>
          <a:p>
            <a:pPr>
              <a:spcAft>
                <a:spcPts val="600"/>
              </a:spcAft>
              <a:defRPr sz="1250">
                <a:solidFill>
                  <a:srgbClr val="94A3B8"/>
                </a:solidFill>
                <a:latin typeface="Segoe UI"/>
              </a:defRPr>
            </a:pPr>
            <a:r>
              <a:t>Validates the input first: non-empty path, the file exists, and it is a real file (not a folder).</a:t>
            </a:r>
          </a:p>
          <a:p>
            <a:pPr>
              <a:spcAft>
                <a:spcPts val="600"/>
              </a:spcAft>
              <a:defRPr sz="1250">
                <a:solidFill>
                  <a:srgbClr val="94A3B8"/>
                </a:solidFill>
                <a:latin typeface="Segoe UI"/>
              </a:defRPr>
            </a:pPr>
            <a:r>
              <a:t>Raises precise errors — ValueError, FileNotFoundError, PermissionError — so the caller knows exactly what went wrong.</a:t>
            </a:r>
          </a:p>
          <a:p>
            <a:pPr>
              <a:spcAft>
                <a:spcPts val="600"/>
              </a:spcAft>
              <a:defRPr sz="1250">
                <a:solidFill>
                  <a:srgbClr val="94A3B8"/>
                </a:solidFill>
                <a:latin typeface="Segoe UI"/>
              </a:defRPr>
            </a:pPr>
            <a:r>
              <a:t>Warns (but does not crash) when the file is empty, and logs every failure through its own named logger.</a:t>
            </a:r>
          </a:p>
        </p:txBody>
      </p:sp>
      <p:sp>
        <p:nvSpPr>
          <p:cNvPr id="6" name="Rounded Rectangle 5"/>
          <p:cNvSpPr/>
          <p:nvPr/>
        </p:nvSpPr>
        <p:spPr>
          <a:xfrm>
            <a:off x="6355080" y="1463040"/>
            <a:ext cx="5102352" cy="4754880"/>
          </a:xfrm>
          <a:prstGeom prst="roundRect">
            <a:avLst/>
          </a:prstGeom>
          <a:solidFill>
            <a:srgbClr val="0D142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ctr">
              <a:spcAft>
                <a:spcPts val="800"/>
              </a:spcAft>
              <a:defRPr sz="1200" b="1">
                <a:solidFill>
                  <a:srgbClr val="38BDF8"/>
                </a:solidFill>
                <a:latin typeface="Segoe UI"/>
              </a:defRPr>
            </a:pPr>
            <a:r>
              <a:t>src/reader.py</a:t>
            </a:r>
          </a:p>
          <a:p>
            <a:pPr>
              <a:spcAft>
                <a:spcPts val="200"/>
              </a:spcAft>
              <a:defRPr sz="1050">
                <a:solidFill>
                  <a:srgbClr val="CBD5E1"/>
                </a:solidFill>
                <a:latin typeface="Consolas"/>
              </a:defRPr>
            </a:pPr>
            <a:r>
              <a:t>def read_log_stream(file_path):</a:t>
            </a:r>
          </a:p>
          <a:p>
            <a:pPr>
              <a:spcAft>
                <a:spcPts val="200"/>
              </a:spcAft>
              <a:defRPr sz="1050">
                <a:solidFill>
                  <a:srgbClr val="CBD5E1"/>
                </a:solidFill>
                <a:latin typeface="Consolas"/>
              </a:defRPr>
            </a:pPr>
            <a:r>
              <a:t>    if not os.path.exists(file_path):</a:t>
            </a:r>
          </a:p>
          <a:p>
            <a:pPr>
              <a:spcAft>
                <a:spcPts val="200"/>
              </a:spcAft>
              <a:defRPr sz="1050">
                <a:solidFill>
                  <a:srgbClr val="CBD5E1"/>
                </a:solidFill>
                <a:latin typeface="Consolas"/>
              </a:defRPr>
            </a:pPr>
            <a:r>
              <a:t>        raise FileNotFoundError(file_path)</a:t>
            </a:r>
          </a:p>
          <a:p>
            <a:pPr>
              <a:spcAft>
                <a:spcPts val="200"/>
              </a:spcAft>
              <a:defRPr sz="1050">
                <a:solidFill>
                  <a:srgbClr val="CBD5E1"/>
                </a:solidFill>
                <a:latin typeface="Consolas"/>
              </a:defRPr>
            </a:pPr>
            <a:r>
              <a:t>    with open(file_path, 'r') as fobj:</a:t>
            </a:r>
          </a:p>
          <a:p>
            <a:pPr>
              <a:spcAft>
                <a:spcPts val="200"/>
              </a:spcAft>
              <a:defRPr sz="1050">
                <a:solidFill>
                  <a:srgbClr val="CBD5E1"/>
                </a:solidFill>
                <a:latin typeface="Consolas"/>
              </a:defRPr>
            </a:pPr>
            <a:r>
              <a:t>        for line in fobj:</a:t>
            </a:r>
          </a:p>
          <a:p>
            <a:pPr>
              <a:spcAft>
                <a:spcPts val="200"/>
              </a:spcAft>
              <a:defRPr sz="1050">
                <a:solidFill>
                  <a:srgbClr val="CBD5E1"/>
                </a:solidFill>
                <a:latin typeface="Consolas"/>
              </a:defRPr>
            </a:pPr>
            <a:r>
              <a:t>            yield line   # one line at a time</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 Memory stays constant even for</a:t>
            </a:r>
          </a:p>
          <a:p>
            <a:pPr>
              <a:spcAft>
                <a:spcPts val="200"/>
              </a:spcAft>
              <a:defRPr sz="1050">
                <a:solidFill>
                  <a:srgbClr val="CBD5E1"/>
                </a:solidFill>
                <a:latin typeface="Consolas"/>
              </a:defRPr>
            </a:pPr>
            <a:r>
              <a:t># multi-gigabyte input files.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MODULE 2 OF 4  ·  SRC/PARSER.PY</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Stage 2 — Regex Parsing &amp; Field Extraction</a:t>
            </a:r>
          </a:p>
        </p:txBody>
      </p:sp>
      <p:sp>
        <p:nvSpPr>
          <p:cNvPr id="5" name="Rounded Rectangle 4"/>
          <p:cNvSpPr/>
          <p:nvPr/>
        </p:nvSpPr>
        <p:spPr>
          <a:xfrm>
            <a:off x="731520" y="1463040"/>
            <a:ext cx="539496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600" b="1">
                <a:solidFill>
                  <a:srgbClr val="A78BFA"/>
                </a:solidFill>
                <a:latin typeface="Segoe UI"/>
              </a:defRPr>
            </a:pPr>
            <a:r>
              <a:t>What parser.py does</a:t>
            </a:r>
          </a:p>
          <a:p>
            <a:pPr>
              <a:spcAft>
                <a:spcPts val="600"/>
              </a:spcAft>
              <a:defRPr sz="1250">
                <a:solidFill>
                  <a:srgbClr val="94A3B8"/>
                </a:solidFill>
                <a:latin typeface="Segoe UI"/>
              </a:defRPr>
            </a:pPr>
            <a:r>
              <a:t>parse_log_line() turns a raw text line into a structured dictionary with 4 fields.</a:t>
            </a:r>
          </a:p>
          <a:p>
            <a:pPr>
              <a:spcAft>
                <a:spcPts val="600"/>
              </a:spcAft>
              <a:defRPr sz="1250">
                <a:solidFill>
                  <a:srgbClr val="94A3B8"/>
                </a:solidFill>
                <a:latin typeface="Segoe UI"/>
              </a:defRPr>
            </a:pPr>
            <a:r>
              <a:t>Uses a COMPILED regex (re.compile) with named groups: timestamp, level, module, message.</a:t>
            </a:r>
          </a:p>
          <a:p>
            <a:pPr>
              <a:spcAft>
                <a:spcPts val="600"/>
              </a:spcAft>
              <a:defRPr sz="1250">
                <a:solidFill>
                  <a:srgbClr val="94A3B8"/>
                </a:solidFill>
                <a:latin typeface="Segoe UI"/>
              </a:defRPr>
            </a:pPr>
            <a:r>
              <a:t>Why compiled: the pattern is built once and reused for every line — faster than recompiling each time.</a:t>
            </a:r>
          </a:p>
          <a:p>
            <a:pPr>
              <a:spcAft>
                <a:spcPts val="600"/>
              </a:spcAft>
              <a:defRPr sz="1250">
                <a:solidFill>
                  <a:srgbClr val="94A3B8"/>
                </a:solidFill>
                <a:latin typeface="Segoe UI"/>
              </a:defRPr>
            </a:pPr>
            <a:r>
              <a:t>Returns None for any line that doesn't match the format — these 'malformed' lines are later counted, not silently dropped.</a:t>
            </a:r>
          </a:p>
          <a:p>
            <a:pPr>
              <a:spcAft>
                <a:spcPts val="600"/>
              </a:spcAft>
              <a:defRPr sz="1250">
                <a:solidFill>
                  <a:srgbClr val="94A3B8"/>
                </a:solidFill>
                <a:latin typeface="Segoe UI"/>
              </a:defRPr>
            </a:pPr>
            <a:r>
              <a:t>This clean dict output is the contract the analyzer depends on.</a:t>
            </a:r>
          </a:p>
        </p:txBody>
      </p:sp>
      <p:sp>
        <p:nvSpPr>
          <p:cNvPr id="6" name="Rounded Rectangle 5"/>
          <p:cNvSpPr/>
          <p:nvPr/>
        </p:nvSpPr>
        <p:spPr>
          <a:xfrm>
            <a:off x="6355080" y="1463040"/>
            <a:ext cx="5102352" cy="4754880"/>
          </a:xfrm>
          <a:prstGeom prst="roundRect">
            <a:avLst/>
          </a:prstGeom>
          <a:solidFill>
            <a:srgbClr val="0D142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ctr">
              <a:spcAft>
                <a:spcPts val="800"/>
              </a:spcAft>
              <a:defRPr sz="1200" b="1">
                <a:solidFill>
                  <a:srgbClr val="A78BFA"/>
                </a:solidFill>
                <a:latin typeface="Segoe UI"/>
              </a:defRPr>
            </a:pPr>
            <a:r>
              <a:t>src/parser.py</a:t>
            </a:r>
          </a:p>
          <a:p>
            <a:pPr>
              <a:spcAft>
                <a:spcPts val="200"/>
              </a:spcAft>
              <a:defRPr sz="1050">
                <a:solidFill>
                  <a:srgbClr val="CBD5E1"/>
                </a:solidFill>
                <a:latin typeface="Consolas"/>
              </a:defRPr>
            </a:pPr>
            <a:r>
              <a:t>LOG_PATTERN = re.compile(</a:t>
            </a:r>
          </a:p>
          <a:p>
            <a:pPr>
              <a:spcAft>
                <a:spcPts val="200"/>
              </a:spcAft>
              <a:defRPr sz="1050">
                <a:solidFill>
                  <a:srgbClr val="CBD5E1"/>
                </a:solidFill>
                <a:latin typeface="Consolas"/>
              </a:defRPr>
            </a:pPr>
            <a:r>
              <a:t>  r'(?P&lt;timestamp&gt;\d{4}-..) '</a:t>
            </a:r>
          </a:p>
          <a:p>
            <a:pPr>
              <a:spcAft>
                <a:spcPts val="200"/>
              </a:spcAft>
              <a:defRPr sz="1050">
                <a:solidFill>
                  <a:srgbClr val="CBD5E1"/>
                </a:solidFill>
                <a:latin typeface="Consolas"/>
              </a:defRPr>
            </a:pPr>
            <a:r>
              <a:t>  r'\[(?P&lt;level&gt;\w+)\] '</a:t>
            </a:r>
          </a:p>
          <a:p>
            <a:pPr>
              <a:spcAft>
                <a:spcPts val="200"/>
              </a:spcAft>
              <a:defRPr sz="1050">
                <a:solidFill>
                  <a:srgbClr val="CBD5E1"/>
                </a:solidFill>
                <a:latin typeface="Consolas"/>
              </a:defRPr>
            </a:pPr>
            <a:r>
              <a:t>  r'\[(?P&lt;module&gt;\w+)\] '</a:t>
            </a:r>
          </a:p>
          <a:p>
            <a:pPr>
              <a:spcAft>
                <a:spcPts val="200"/>
              </a:spcAft>
              <a:defRPr sz="1050">
                <a:solidFill>
                  <a:srgbClr val="CBD5E1"/>
                </a:solidFill>
                <a:latin typeface="Consolas"/>
              </a:defRPr>
            </a:pPr>
            <a:r>
              <a:t>  r'(?P&lt;message&gt;.*)')</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match = LOG_PATTERN.match(line)</a:t>
            </a:r>
          </a:p>
          <a:p>
            <a:pPr>
              <a:spcAft>
                <a:spcPts val="200"/>
              </a:spcAft>
              <a:defRPr sz="1050">
                <a:solidFill>
                  <a:srgbClr val="CBD5E1"/>
                </a:solidFill>
                <a:latin typeface="Consolas"/>
              </a:defRPr>
            </a:pPr>
            <a:r>
              <a:t>if not match:</a:t>
            </a:r>
          </a:p>
          <a:p>
            <a:pPr>
              <a:spcAft>
                <a:spcPts val="200"/>
              </a:spcAft>
              <a:defRPr sz="1050">
                <a:solidFill>
                  <a:srgbClr val="CBD5E1"/>
                </a:solidFill>
                <a:latin typeface="Consolas"/>
              </a:defRPr>
            </a:pPr>
            <a:r>
              <a:t>    return None   # malformed line</a:t>
            </a:r>
          </a:p>
          <a:p>
            <a:pPr>
              <a:spcAft>
                <a:spcPts val="200"/>
              </a:spcAft>
              <a:defRPr sz="1050">
                <a:solidFill>
                  <a:srgbClr val="CBD5E1"/>
                </a:solidFill>
                <a:latin typeface="Consolas"/>
              </a:defRPr>
            </a:pPr>
            <a:r>
              <a:t>return match.groupdict()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MODULE 3 OF 4  ·  SRC/ANALYZER.PY</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Stage 3 — Counter-Based Statistical Analysis</a:t>
            </a:r>
          </a:p>
        </p:txBody>
      </p:sp>
      <p:sp>
        <p:nvSpPr>
          <p:cNvPr id="5" name="Rounded Rectangle 4"/>
          <p:cNvSpPr/>
          <p:nvPr/>
        </p:nvSpPr>
        <p:spPr>
          <a:xfrm>
            <a:off x="731520" y="1463040"/>
            <a:ext cx="539496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600" b="1">
                <a:solidFill>
                  <a:srgbClr val="FB923C"/>
                </a:solidFill>
                <a:latin typeface="Segoe UI"/>
              </a:defRPr>
            </a:pPr>
            <a:r>
              <a:t>What analyzer.py does</a:t>
            </a:r>
          </a:p>
          <a:p>
            <a:pPr>
              <a:spcAft>
                <a:spcPts val="600"/>
              </a:spcAft>
              <a:defRPr sz="1250">
                <a:solidFill>
                  <a:srgbClr val="94A3B8"/>
                </a:solidFill>
                <a:latin typeface="Segoe UI"/>
              </a:defRPr>
            </a:pPr>
            <a:r>
              <a:t>LogAnalyzer holds several collections.Counter objects for levels, modules, errors, and warnings.</a:t>
            </a:r>
          </a:p>
          <a:p>
            <a:pPr>
              <a:spcAft>
                <a:spcPts val="600"/>
              </a:spcAft>
              <a:defRPr sz="1250">
                <a:solidFill>
                  <a:srgbClr val="94A3B8"/>
                </a:solidFill>
                <a:latin typeface="Segoe UI"/>
              </a:defRPr>
            </a:pPr>
            <a:r>
              <a:t>ingest_events() consumes the line stream, calls the parser, and tallies every parsed event.</a:t>
            </a:r>
          </a:p>
          <a:p>
            <a:pPr>
              <a:spcAft>
                <a:spcPts val="600"/>
              </a:spcAft>
              <a:defRPr sz="1250">
                <a:solidFill>
                  <a:srgbClr val="94A3B8"/>
                </a:solidFill>
                <a:latin typeface="Segoe UI"/>
              </a:defRPr>
            </a:pPr>
            <a:r>
              <a:t>Why Counter: it counts occurrences in O(1) per item and gives .most_common(n) for free — ideal for 'top recurring errors'.</a:t>
            </a:r>
          </a:p>
          <a:p>
            <a:pPr>
              <a:spcAft>
                <a:spcPts val="600"/>
              </a:spcAft>
              <a:defRPr sz="1250">
                <a:solidFill>
                  <a:srgbClr val="94A3B8"/>
                </a:solidFill>
                <a:latin typeface="Segoe UI"/>
              </a:defRPr>
            </a:pPr>
            <a:r>
              <a:t>Errors/warnings are keyed as 'module: message' so identical failures from the same source cluster together.</a:t>
            </a:r>
          </a:p>
          <a:p>
            <a:pPr>
              <a:spcAft>
                <a:spcPts val="600"/>
              </a:spcAft>
              <a:defRPr sz="1250">
                <a:solidFill>
                  <a:srgbClr val="94A3B8"/>
                </a:solidFill>
                <a:latin typeface="Segoe UI"/>
              </a:defRPr>
            </a:pPr>
            <a:r>
              <a:t>get_overall_summary() computes totals, skipped lines, and the parse-success rate for the report.</a:t>
            </a:r>
          </a:p>
        </p:txBody>
      </p:sp>
      <p:sp>
        <p:nvSpPr>
          <p:cNvPr id="6" name="Rounded Rectangle 5"/>
          <p:cNvSpPr/>
          <p:nvPr/>
        </p:nvSpPr>
        <p:spPr>
          <a:xfrm>
            <a:off x="6355080" y="1463040"/>
            <a:ext cx="5102352" cy="4754880"/>
          </a:xfrm>
          <a:prstGeom prst="roundRect">
            <a:avLst/>
          </a:prstGeom>
          <a:solidFill>
            <a:srgbClr val="0D142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ctr">
              <a:spcAft>
                <a:spcPts val="800"/>
              </a:spcAft>
              <a:defRPr sz="1200" b="1">
                <a:solidFill>
                  <a:srgbClr val="FB923C"/>
                </a:solidFill>
                <a:latin typeface="Segoe UI"/>
              </a:defRPr>
            </a:pPr>
            <a:r>
              <a:t>src/analyzer.py</a:t>
            </a:r>
          </a:p>
          <a:p>
            <a:pPr>
              <a:spcAft>
                <a:spcPts val="200"/>
              </a:spcAft>
              <a:defRPr sz="1050">
                <a:solidFill>
                  <a:srgbClr val="CBD5E1"/>
                </a:solidFill>
                <a:latin typeface="Consolas"/>
              </a:defRPr>
            </a:pPr>
            <a:r>
              <a:t>self.error_messages = Counter()</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def ingest_events(self, lines, parser_fn):</a:t>
            </a:r>
          </a:p>
          <a:p>
            <a:pPr>
              <a:spcAft>
                <a:spcPts val="200"/>
              </a:spcAft>
              <a:defRPr sz="1050">
                <a:solidFill>
                  <a:srgbClr val="CBD5E1"/>
                </a:solidFill>
                <a:latin typeface="Consolas"/>
              </a:defRPr>
            </a:pPr>
            <a:r>
              <a:t>    for line in lines:</a:t>
            </a:r>
          </a:p>
          <a:p>
            <a:pPr>
              <a:spcAft>
                <a:spcPts val="200"/>
              </a:spcAft>
              <a:defRPr sz="1050">
                <a:solidFill>
                  <a:srgbClr val="CBD5E1"/>
                </a:solidFill>
                <a:latin typeface="Consolas"/>
              </a:defRPr>
            </a:pPr>
            <a:r>
              <a:t>        event = parser_fn(line)</a:t>
            </a:r>
          </a:p>
          <a:p>
            <a:pPr>
              <a:spcAft>
                <a:spcPts val="200"/>
              </a:spcAft>
              <a:defRPr sz="1050">
                <a:solidFill>
                  <a:srgbClr val="CBD5E1"/>
                </a:solidFill>
                <a:latin typeface="Consolas"/>
              </a:defRPr>
            </a:pPr>
            <a:r>
              <a:t>        if not event:</a:t>
            </a:r>
          </a:p>
          <a:p>
            <a:pPr>
              <a:spcAft>
                <a:spcPts val="200"/>
              </a:spcAft>
              <a:defRPr sz="1050">
                <a:solidFill>
                  <a:srgbClr val="CBD5E1"/>
                </a:solidFill>
                <a:latin typeface="Consolas"/>
              </a:defRPr>
            </a:pPr>
            <a:r>
              <a:t>            continue   # skipped line</a:t>
            </a:r>
          </a:p>
          <a:p>
            <a:pPr>
              <a:spcAft>
                <a:spcPts val="200"/>
              </a:spcAft>
              <a:defRPr sz="1050">
                <a:solidFill>
                  <a:srgbClr val="CBD5E1"/>
                </a:solidFill>
                <a:latin typeface="Consolas"/>
              </a:defRPr>
            </a:pPr>
            <a:r>
              <a:t>        key = f"{module}: {message}"</a:t>
            </a:r>
          </a:p>
          <a:p>
            <a:pPr>
              <a:spcAft>
                <a:spcPts val="200"/>
              </a:spcAft>
              <a:defRPr sz="1050">
                <a:solidFill>
                  <a:srgbClr val="CBD5E1"/>
                </a:solidFill>
                <a:latin typeface="Consolas"/>
              </a:defRPr>
            </a:pPr>
            <a:r>
              <a:t>        self.error_messages[key] += 1</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get_top_errors -&gt; most_common(n)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MODULE 4 OF 4  ·  SRC/REPORTER.PY</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Stage 4 — Reporting &amp; Multi-Format Export</a:t>
            </a:r>
          </a:p>
        </p:txBody>
      </p:sp>
      <p:sp>
        <p:nvSpPr>
          <p:cNvPr id="5" name="Rounded Rectangle 4"/>
          <p:cNvSpPr/>
          <p:nvPr/>
        </p:nvSpPr>
        <p:spPr>
          <a:xfrm>
            <a:off x="731520" y="1463040"/>
            <a:ext cx="539496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600" b="1">
                <a:solidFill>
                  <a:srgbClr val="34D399"/>
                </a:solidFill>
                <a:latin typeface="Segoe UI"/>
              </a:defRPr>
            </a:pPr>
            <a:r>
              <a:t>What reporter.py does</a:t>
            </a:r>
          </a:p>
          <a:p>
            <a:pPr>
              <a:spcAft>
                <a:spcPts val="600"/>
              </a:spcAft>
              <a:defRPr sz="1250">
                <a:solidFill>
                  <a:srgbClr val="94A3B8"/>
                </a:solidFill>
                <a:latin typeface="Segoe UI"/>
              </a:defRPr>
            </a:pPr>
            <a:r>
              <a:t>generate_console_summary() BUILDS and returns the formatted report string (printing is done by main.py — keeps it testable).</a:t>
            </a:r>
          </a:p>
          <a:p>
            <a:pPr>
              <a:spcAft>
                <a:spcPts val="600"/>
              </a:spcAft>
              <a:defRPr sz="1250">
                <a:solidFill>
                  <a:srgbClr val="94A3B8"/>
                </a:solidFill>
                <a:latin typeface="Segoe UI"/>
              </a:defRPr>
            </a:pPr>
            <a:r>
              <a:t>export_text_report() writes the human-readable summary to reports/summary_report.txt.</a:t>
            </a:r>
          </a:p>
          <a:p>
            <a:pPr>
              <a:spcAft>
                <a:spcPts val="600"/>
              </a:spcAft>
              <a:defRPr sz="1250">
                <a:solidFill>
                  <a:srgbClr val="94A3B8"/>
                </a:solidFill>
                <a:latin typeface="Segoe UI"/>
              </a:defRPr>
            </a:pPr>
            <a:r>
              <a:t>export_csv_breakdown() writes a machine-readable CSV (level counts + top warnings + top errors) for Excel / dashboards.</a:t>
            </a:r>
          </a:p>
          <a:p>
            <a:pPr>
              <a:spcAft>
                <a:spcPts val="600"/>
              </a:spcAft>
              <a:defRPr sz="1250">
                <a:solidFill>
                  <a:srgbClr val="94A3B8"/>
                </a:solidFill>
                <a:latin typeface="Segoe UI"/>
              </a:defRPr>
            </a:pPr>
            <a:r>
              <a:t>Both exporters auto-create the output folder, so a missing reports/ directory never causes a crash.</a:t>
            </a:r>
          </a:p>
          <a:p>
            <a:pPr>
              <a:spcAft>
                <a:spcPts val="600"/>
              </a:spcAft>
              <a:defRPr sz="1250">
                <a:solidFill>
                  <a:srgbClr val="94A3B8"/>
                </a:solidFill>
                <a:latin typeface="Segoe UI"/>
              </a:defRPr>
            </a:pPr>
            <a:r>
              <a:t>The --top N flag controls how many recurring errors/warnings appear in both outputs.</a:t>
            </a:r>
          </a:p>
        </p:txBody>
      </p:sp>
      <p:sp>
        <p:nvSpPr>
          <p:cNvPr id="6" name="Rounded Rectangle 5"/>
          <p:cNvSpPr/>
          <p:nvPr/>
        </p:nvSpPr>
        <p:spPr>
          <a:xfrm>
            <a:off x="6355080" y="1463040"/>
            <a:ext cx="5102352" cy="4754880"/>
          </a:xfrm>
          <a:prstGeom prst="roundRect">
            <a:avLst/>
          </a:prstGeom>
          <a:solidFill>
            <a:srgbClr val="0D142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ctr">
              <a:spcAft>
                <a:spcPts val="800"/>
              </a:spcAft>
              <a:defRPr sz="1200" b="1">
                <a:solidFill>
                  <a:srgbClr val="34D399"/>
                </a:solidFill>
                <a:latin typeface="Segoe UI"/>
              </a:defRPr>
            </a:pPr>
            <a:r>
              <a:t>src/reporter.py</a:t>
            </a:r>
          </a:p>
          <a:p>
            <a:pPr>
              <a:spcAft>
                <a:spcPts val="200"/>
              </a:spcAft>
              <a:defRPr sz="1050">
                <a:solidFill>
                  <a:srgbClr val="CBD5E1"/>
                </a:solidFill>
                <a:latin typeface="Consolas"/>
              </a:defRPr>
            </a:pPr>
            <a:r>
              <a:t>def _ensure_parent_dir(path):</a:t>
            </a:r>
          </a:p>
          <a:p>
            <a:pPr>
              <a:spcAft>
                <a:spcPts val="200"/>
              </a:spcAft>
              <a:defRPr sz="1050">
                <a:solidFill>
                  <a:srgbClr val="CBD5E1"/>
                </a:solidFill>
                <a:latin typeface="Consolas"/>
              </a:defRPr>
            </a:pPr>
            <a:r>
              <a:t>    parent = os.path.dirname(path)</a:t>
            </a:r>
          </a:p>
          <a:p>
            <a:pPr>
              <a:spcAft>
                <a:spcPts val="200"/>
              </a:spcAft>
              <a:defRPr sz="1050">
                <a:solidFill>
                  <a:srgbClr val="CBD5E1"/>
                </a:solidFill>
                <a:latin typeface="Consolas"/>
              </a:defRPr>
            </a:pPr>
            <a:r>
              <a:t>    if parent:</a:t>
            </a:r>
          </a:p>
          <a:p>
            <a:pPr>
              <a:spcAft>
                <a:spcPts val="200"/>
              </a:spcAft>
              <a:defRPr sz="1050">
                <a:solidFill>
                  <a:srgbClr val="CBD5E1"/>
                </a:solidFill>
                <a:latin typeface="Consolas"/>
              </a:defRPr>
            </a:pPr>
            <a:r>
              <a:t>        os.makedirs(parent, exist_ok=True)</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with open(file_path, 'w') as f:</a:t>
            </a:r>
          </a:p>
          <a:p>
            <a:pPr>
              <a:spcAft>
                <a:spcPts val="200"/>
              </a:spcAft>
              <a:defRPr sz="1050">
                <a:solidFill>
                  <a:srgbClr val="CBD5E1"/>
                </a:solidFill>
                <a:latin typeface="Consolas"/>
              </a:defRPr>
            </a:pPr>
            <a:r>
              <a:t>    f.write(report_text)</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writer = csv.writer(csvfile)</a:t>
            </a:r>
          </a:p>
          <a:p>
            <a:pPr>
              <a:spcAft>
                <a:spcPts val="200"/>
              </a:spcAft>
              <a:defRPr sz="1050">
                <a:solidFill>
                  <a:srgbClr val="CBD5E1"/>
                </a:solidFill>
                <a:latin typeface="Consolas"/>
              </a:defRPr>
            </a:pPr>
            <a:r>
              <a:t>writer.writerow(['Log Level', 'Count'])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RELIABILITY  ·  DEFENSIVE DESIGN</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Error Handling — What We Catch and Why</a:t>
            </a:r>
          </a:p>
        </p:txBody>
      </p:sp>
      <p:sp>
        <p:nvSpPr>
          <p:cNvPr id="5" name="Rounded Rectangle 4"/>
          <p:cNvSpPr/>
          <p:nvPr/>
        </p:nvSpPr>
        <p:spPr>
          <a:xfrm>
            <a:off x="731520" y="1463040"/>
            <a:ext cx="3410712" cy="27432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38BDF8"/>
                </a:solidFill>
                <a:latin typeface="Segoe UI"/>
              </a:defRPr>
            </a:pPr>
            <a:r>
              <a:t>Specific over generic</a:t>
            </a:r>
          </a:p>
          <a:p>
            <a:pPr>
              <a:spcAft>
                <a:spcPts val="600"/>
              </a:spcAft>
              <a:defRPr sz="1150">
                <a:solidFill>
                  <a:srgbClr val="94A3B8"/>
                </a:solidFill>
                <a:latin typeface="Segoe UI"/>
              </a:defRPr>
            </a:pPr>
            <a:r>
              <a:t>reader raises FileNotFoundError, PermissionError, ValueError.</a:t>
            </a:r>
          </a:p>
          <a:p>
            <a:pPr>
              <a:spcAft>
                <a:spcPts val="600"/>
              </a:spcAft>
              <a:defRPr sz="1150">
                <a:solidFill>
                  <a:srgbClr val="94A3B8"/>
                </a:solidFill>
                <a:latin typeface="Segoe UI"/>
              </a:defRPr>
            </a:pPr>
            <a:r>
              <a:t>Catching each type separately gives the user a clear, actionable message.</a:t>
            </a:r>
          </a:p>
          <a:p>
            <a:pPr>
              <a:spcAft>
                <a:spcPts val="600"/>
              </a:spcAft>
              <a:defRPr sz="1150">
                <a:solidFill>
                  <a:srgbClr val="94A3B8"/>
                </a:solidFill>
                <a:latin typeface="Segoe UI"/>
              </a:defRPr>
            </a:pPr>
            <a:r>
              <a:t>Why: 'File does not exist' is far more useful than a raw stack trace.</a:t>
            </a:r>
          </a:p>
        </p:txBody>
      </p:sp>
      <p:sp>
        <p:nvSpPr>
          <p:cNvPr id="6" name="Rounded Rectangle 5"/>
          <p:cNvSpPr/>
          <p:nvPr/>
        </p:nvSpPr>
        <p:spPr>
          <a:xfrm>
            <a:off x="4389120" y="1463040"/>
            <a:ext cx="3410712" cy="27432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FB923C"/>
                </a:solidFill>
                <a:latin typeface="Segoe UI"/>
              </a:defRPr>
            </a:pPr>
            <a:r>
              <a:t>Fail soft on bad data</a:t>
            </a:r>
          </a:p>
          <a:p>
            <a:pPr>
              <a:spcAft>
                <a:spcPts val="600"/>
              </a:spcAft>
              <a:defRPr sz="1150">
                <a:solidFill>
                  <a:srgbClr val="94A3B8"/>
                </a:solidFill>
                <a:latin typeface="Segoe UI"/>
              </a:defRPr>
            </a:pPr>
            <a:r>
              <a:t>parser returns None for malformed lines instead of throwing.</a:t>
            </a:r>
          </a:p>
          <a:p>
            <a:pPr>
              <a:spcAft>
                <a:spcPts val="600"/>
              </a:spcAft>
              <a:defRPr sz="1150">
                <a:solidFill>
                  <a:srgbClr val="94A3B8"/>
                </a:solidFill>
                <a:latin typeface="Segoe UI"/>
              </a:defRPr>
            </a:pPr>
            <a:r>
              <a:t>One corrupt line should never stop analysis of the other 999,999.</a:t>
            </a:r>
          </a:p>
          <a:p>
            <a:pPr>
              <a:spcAft>
                <a:spcPts val="600"/>
              </a:spcAft>
              <a:defRPr sz="1150">
                <a:solidFill>
                  <a:srgbClr val="94A3B8"/>
                </a:solidFill>
                <a:latin typeface="Segoe UI"/>
              </a:defRPr>
            </a:pPr>
            <a:r>
              <a:t>Skipped lines are counted and reported as a parse-success rate.</a:t>
            </a:r>
          </a:p>
        </p:txBody>
      </p:sp>
      <p:sp>
        <p:nvSpPr>
          <p:cNvPr id="7" name="Rounded Rectangle 6"/>
          <p:cNvSpPr/>
          <p:nvPr/>
        </p:nvSpPr>
        <p:spPr>
          <a:xfrm>
            <a:off x="8046720" y="1463040"/>
            <a:ext cx="3410712" cy="27432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F87171"/>
                </a:solidFill>
                <a:latin typeface="Segoe UI"/>
              </a:defRPr>
            </a:pPr>
            <a:r>
              <a:t>Controlled exit in main</a:t>
            </a:r>
          </a:p>
          <a:p>
            <a:pPr>
              <a:spcAft>
                <a:spcPts val="600"/>
              </a:spcAft>
              <a:defRPr sz="1150">
                <a:solidFill>
                  <a:srgbClr val="94A3B8"/>
                </a:solidFill>
                <a:latin typeface="Segoe UI"/>
              </a:defRPr>
            </a:pPr>
            <a:r>
              <a:t>main wraps the pipeline in try/except.</a:t>
            </a:r>
          </a:p>
          <a:p>
            <a:pPr>
              <a:spcAft>
                <a:spcPts val="600"/>
              </a:spcAft>
              <a:defRPr sz="1150">
                <a:solidFill>
                  <a:srgbClr val="94A3B8"/>
                </a:solidFill>
                <a:latin typeface="Segoe UI"/>
              </a:defRPr>
            </a:pPr>
            <a:r>
              <a:t>File errors vs. unexpected errors are handled separately.</a:t>
            </a:r>
          </a:p>
          <a:p>
            <a:pPr>
              <a:spcAft>
                <a:spcPts val="600"/>
              </a:spcAft>
              <a:defRPr sz="1150">
                <a:solidFill>
                  <a:srgbClr val="94A3B8"/>
                </a:solidFill>
                <a:latin typeface="Segoe UI"/>
              </a:defRPr>
            </a:pPr>
            <a:r>
              <a:t>On failure it logs the cause and exits with status code 1.</a:t>
            </a:r>
          </a:p>
        </p:txBody>
      </p:sp>
      <p:sp>
        <p:nvSpPr>
          <p:cNvPr id="8" name="Rounded Rectangle 7"/>
          <p:cNvSpPr/>
          <p:nvPr/>
        </p:nvSpPr>
        <p:spPr>
          <a:xfrm>
            <a:off x="731520" y="4389120"/>
            <a:ext cx="10725912" cy="1828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A78BFA"/>
                </a:solidFill>
                <a:latin typeface="Segoe UI"/>
              </a:defRPr>
            </a:pPr>
            <a:r>
              <a:t>Why this matters</a:t>
            </a:r>
          </a:p>
          <a:p>
            <a:pPr>
              <a:spcAft>
                <a:spcPts val="600"/>
              </a:spcAft>
              <a:defRPr sz="1200">
                <a:solidFill>
                  <a:srgbClr val="94A3B8"/>
                </a:solidFill>
                <a:latin typeface="Segoe UI"/>
              </a:defRPr>
            </a:pPr>
            <a:r>
              <a:t>A log analyzer is an operations tool — it is run exactly when something is already going wrong.</a:t>
            </a:r>
          </a:p>
          <a:p>
            <a:pPr>
              <a:spcAft>
                <a:spcPts val="600"/>
              </a:spcAft>
              <a:defRPr sz="1200">
                <a:solidFill>
                  <a:srgbClr val="94A3B8"/>
                </a:solidFill>
                <a:latin typeface="Segoe UI"/>
              </a:defRPr>
            </a:pPr>
            <a:r>
              <a:t>If the tool itself crashes on a missing file or one bad line, it fails the user at the worst possible moment.</a:t>
            </a:r>
          </a:p>
          <a:p>
            <a:pPr>
              <a:spcAft>
                <a:spcPts val="600"/>
              </a:spcAft>
              <a:defRPr sz="1200">
                <a:solidFill>
                  <a:srgbClr val="94A3B8"/>
                </a:solidFill>
                <a:latin typeface="Segoe UI"/>
              </a:defRPr>
            </a:pPr>
            <a:r>
              <a:t>Graceful, specific error handling turns failures into clear guidance instead of confusing tracebacks.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OBSERVABILITY  ·  LOGGING</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Logging — Why We Use Python's logging Library</a:t>
            </a:r>
          </a:p>
        </p:txBody>
      </p:sp>
      <p:sp>
        <p:nvSpPr>
          <p:cNvPr id="5" name="Rounded Rectangle 4"/>
          <p:cNvSpPr/>
          <p:nvPr/>
        </p:nvSpPr>
        <p:spPr>
          <a:xfrm>
            <a:off x="731520" y="1463040"/>
            <a:ext cx="539496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600" b="1">
                <a:solidFill>
                  <a:srgbClr val="38BDF8"/>
                </a:solidFill>
                <a:latin typeface="Segoe UI"/>
              </a:defRPr>
            </a:pPr>
            <a:r>
              <a:t>Logging strategy</a:t>
            </a:r>
          </a:p>
          <a:p>
            <a:pPr>
              <a:spcAft>
                <a:spcPts val="600"/>
              </a:spcAft>
              <a:defRPr sz="1250">
                <a:solidFill>
                  <a:srgbClr val="94A3B8"/>
                </a:solidFill>
                <a:latin typeface="Segoe UI"/>
              </a:defRPr>
            </a:pPr>
            <a:r>
              <a:t>Every module has its own named logger (LogAnalyzer.Reader, .Parser, .Analyzer, .Reporter, .Main).</a:t>
            </a:r>
          </a:p>
          <a:p>
            <a:pPr>
              <a:spcAft>
                <a:spcPts val="600"/>
              </a:spcAft>
              <a:defRPr sz="1250">
                <a:solidFill>
                  <a:srgbClr val="94A3B8"/>
                </a:solidFill>
                <a:latin typeface="Segoe UI"/>
              </a:defRPr>
            </a:pPr>
            <a:r>
              <a:t>Why the logging library instead of print(): it adds timestamps, severity levels, and the source module automatically.</a:t>
            </a:r>
          </a:p>
          <a:p>
            <a:pPr>
              <a:spcAft>
                <a:spcPts val="600"/>
              </a:spcAft>
              <a:defRPr sz="1250">
                <a:solidFill>
                  <a:srgbClr val="94A3B8"/>
                </a:solidFill>
                <a:latin typeface="Segoe UI"/>
              </a:defRPr>
            </a:pPr>
            <a:r>
              <a:t>Output goes to BOTH the console (live feedback) and application.log (a permanent audit trail).</a:t>
            </a:r>
          </a:p>
          <a:p>
            <a:pPr>
              <a:spcAft>
                <a:spcPts val="600"/>
              </a:spcAft>
              <a:defRPr sz="1250">
                <a:solidFill>
                  <a:srgbClr val="94A3B8"/>
                </a:solidFill>
                <a:latin typeface="Segoe UI"/>
              </a:defRPr>
            </a:pPr>
            <a:r>
              <a:t>Log levels (INFO / WARNING / ERROR) let us separate normal progress from problems without changing code.</a:t>
            </a:r>
          </a:p>
          <a:p>
            <a:pPr>
              <a:spcAft>
                <a:spcPts val="600"/>
              </a:spcAft>
              <a:defRPr sz="1250">
                <a:solidFill>
                  <a:srgbClr val="94A3B8"/>
                </a:solidFill>
                <a:latin typeface="Segoe UI"/>
              </a:defRPr>
            </a:pPr>
            <a:r>
              <a:t>This makes the tool debuggable in production: you can trace exactly which stage failed and when.</a:t>
            </a:r>
          </a:p>
        </p:txBody>
      </p:sp>
      <p:sp>
        <p:nvSpPr>
          <p:cNvPr id="6" name="Rounded Rectangle 5"/>
          <p:cNvSpPr/>
          <p:nvPr/>
        </p:nvSpPr>
        <p:spPr>
          <a:xfrm>
            <a:off x="6355080" y="1463040"/>
            <a:ext cx="5102352" cy="4754880"/>
          </a:xfrm>
          <a:prstGeom prst="roundRect">
            <a:avLst/>
          </a:prstGeom>
          <a:solidFill>
            <a:srgbClr val="0D1424"/>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ctr">
              <a:spcAft>
                <a:spcPts val="800"/>
              </a:spcAft>
              <a:defRPr sz="1200" b="1">
                <a:solidFill>
                  <a:srgbClr val="38BDF8"/>
                </a:solidFill>
                <a:latin typeface="Segoe UI"/>
              </a:defRPr>
            </a:pPr>
            <a:r>
              <a:t>main.py — configure_app_logging()</a:t>
            </a:r>
          </a:p>
          <a:p>
            <a:pPr>
              <a:spcAft>
                <a:spcPts val="200"/>
              </a:spcAft>
              <a:defRPr sz="1050">
                <a:solidFill>
                  <a:srgbClr val="CBD5E1"/>
                </a:solidFill>
                <a:latin typeface="Consolas"/>
              </a:defRPr>
            </a:pPr>
            <a:r>
              <a:t>logging.basicConfig(</a:t>
            </a:r>
          </a:p>
          <a:p>
            <a:pPr>
              <a:spcAft>
                <a:spcPts val="200"/>
              </a:spcAft>
              <a:defRPr sz="1050">
                <a:solidFill>
                  <a:srgbClr val="CBD5E1"/>
                </a:solidFill>
                <a:latin typeface="Consolas"/>
              </a:defRPr>
            </a:pPr>
            <a:r>
              <a:t>  level=logging.INFO,</a:t>
            </a:r>
          </a:p>
          <a:p>
            <a:pPr>
              <a:spcAft>
                <a:spcPts val="200"/>
              </a:spcAft>
              <a:defRPr sz="1050">
                <a:solidFill>
                  <a:srgbClr val="CBD5E1"/>
                </a:solidFill>
                <a:latin typeface="Consolas"/>
              </a:defRPr>
            </a:pPr>
            <a:r>
              <a:t>  format='%(asctime)s - %(name)s'</a:t>
            </a:r>
          </a:p>
          <a:p>
            <a:pPr>
              <a:spcAft>
                <a:spcPts val="200"/>
              </a:spcAft>
              <a:defRPr sz="1050">
                <a:solidFill>
                  <a:srgbClr val="CBD5E1"/>
                </a:solidFill>
                <a:latin typeface="Consolas"/>
              </a:defRPr>
            </a:pPr>
            <a:r>
              <a:t>         ' - %(levelname)s - %(message)s',</a:t>
            </a:r>
          </a:p>
          <a:p>
            <a:pPr>
              <a:spcAft>
                <a:spcPts val="200"/>
              </a:spcAft>
              <a:defRPr sz="1050">
                <a:solidFill>
                  <a:srgbClr val="CBD5E1"/>
                </a:solidFill>
                <a:latin typeface="Consolas"/>
              </a:defRPr>
            </a:pPr>
            <a:r>
              <a:t>  handlers=[</a:t>
            </a:r>
          </a:p>
          <a:p>
            <a:pPr>
              <a:spcAft>
                <a:spcPts val="200"/>
              </a:spcAft>
              <a:defRPr sz="1050">
                <a:solidFill>
                  <a:srgbClr val="CBD5E1"/>
                </a:solidFill>
                <a:latin typeface="Consolas"/>
              </a:defRPr>
            </a:pPr>
            <a:r>
              <a:t>    logging.FileHandler('application.log'),</a:t>
            </a:r>
          </a:p>
          <a:p>
            <a:pPr>
              <a:spcAft>
                <a:spcPts val="200"/>
              </a:spcAft>
              <a:defRPr sz="1050">
                <a:solidFill>
                  <a:srgbClr val="CBD5E1"/>
                </a:solidFill>
                <a:latin typeface="Consolas"/>
              </a:defRPr>
            </a:pPr>
            <a:r>
              <a:t>    logging.StreamHandler(sys.stdout),</a:t>
            </a:r>
          </a:p>
          <a:p>
            <a:pPr>
              <a:spcAft>
                <a:spcPts val="200"/>
              </a:spcAft>
              <a:defRPr sz="1050">
                <a:solidFill>
                  <a:srgbClr val="CBD5E1"/>
                </a:solidFill>
                <a:latin typeface="Consolas"/>
              </a:defRPr>
            </a:pPr>
            <a:r>
              <a:t>  ])</a:t>
            </a:r>
          </a:p>
          <a:p>
            <a:pPr>
              <a:spcAft>
                <a:spcPts val="200"/>
              </a:spcAft>
              <a:defRPr sz="1050">
                <a:solidFill>
                  <a:srgbClr val="CBD5E1"/>
                </a:solidFill>
                <a:latin typeface="Consolas"/>
              </a:defRPr>
            </a:pPr>
            <a:endParaRPr/>
          </a:p>
          <a:p>
            <a:pPr>
              <a:spcAft>
                <a:spcPts val="200"/>
              </a:spcAft>
              <a:defRPr sz="1050">
                <a:solidFill>
                  <a:srgbClr val="CBD5E1"/>
                </a:solidFill>
                <a:latin typeface="Consolas"/>
              </a:defRPr>
            </a:pPr>
            <a:r>
              <a:t>logger = logging.getLogger(</a:t>
            </a:r>
          </a:p>
          <a:p>
            <a:pPr>
              <a:spcAft>
                <a:spcPts val="200"/>
              </a:spcAft>
              <a:defRPr sz="1050">
                <a:solidFill>
                  <a:srgbClr val="CBD5E1"/>
                </a:solidFill>
                <a:latin typeface="Consolas"/>
              </a:defRPr>
            </a:pPr>
            <a:r>
              <a:t>    'LogAnalyzer.Reader')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QUALITY  ·  UNIT TESTING</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Test Cases — Why They Matter &amp; What They Cover</a:t>
            </a:r>
          </a:p>
        </p:txBody>
      </p:sp>
      <p:sp>
        <p:nvSpPr>
          <p:cNvPr id="5" name="Rounded Rectangle 4"/>
          <p:cNvSpPr/>
          <p:nvPr/>
        </p:nvSpPr>
        <p:spPr>
          <a:xfrm>
            <a:off x="731520" y="1463040"/>
            <a:ext cx="2496312" cy="2651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38BDF8"/>
                </a:solidFill>
                <a:latin typeface="Segoe UI"/>
              </a:defRPr>
            </a:pPr>
            <a:r>
              <a:t>TestReader</a:t>
            </a:r>
          </a:p>
          <a:p>
            <a:pPr>
              <a:spcAft>
                <a:spcPts val="600"/>
              </a:spcAft>
              <a:defRPr sz="1100">
                <a:solidFill>
                  <a:srgbClr val="94A3B8"/>
                </a:solidFill>
                <a:latin typeface="Segoe UI"/>
              </a:defRPr>
            </a:pPr>
            <a:r>
              <a:t>Verifies FileNotFoundError on a missing file.</a:t>
            </a:r>
          </a:p>
          <a:p>
            <a:pPr>
              <a:spcAft>
                <a:spcPts val="600"/>
              </a:spcAft>
              <a:defRPr sz="1100">
                <a:solidFill>
                  <a:srgbClr val="94A3B8"/>
                </a:solidFill>
                <a:latin typeface="Segoe UI"/>
              </a:defRPr>
            </a:pPr>
            <a:r>
              <a:t>Confirms the generator yields the right number of lines.</a:t>
            </a:r>
          </a:p>
        </p:txBody>
      </p:sp>
      <p:sp>
        <p:nvSpPr>
          <p:cNvPr id="6" name="Rounded Rectangle 5"/>
          <p:cNvSpPr/>
          <p:nvPr/>
        </p:nvSpPr>
        <p:spPr>
          <a:xfrm>
            <a:off x="3474720" y="1463040"/>
            <a:ext cx="2496312" cy="2651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A78BFA"/>
                </a:solidFill>
                <a:latin typeface="Segoe UI"/>
              </a:defRPr>
            </a:pPr>
            <a:r>
              <a:t>TestParser</a:t>
            </a:r>
          </a:p>
          <a:p>
            <a:pPr>
              <a:spcAft>
                <a:spcPts val="600"/>
              </a:spcAft>
              <a:defRPr sz="1100">
                <a:solidFill>
                  <a:srgbClr val="94A3B8"/>
                </a:solidFill>
                <a:latin typeface="Segoe UI"/>
              </a:defRPr>
            </a:pPr>
            <a:r>
              <a:t>Checks valid lines extract level &amp; module correctly.</a:t>
            </a:r>
          </a:p>
          <a:p>
            <a:pPr>
              <a:spcAft>
                <a:spcPts val="600"/>
              </a:spcAft>
              <a:defRPr sz="1100">
                <a:solidFill>
                  <a:srgbClr val="94A3B8"/>
                </a:solidFill>
                <a:latin typeface="Segoe UI"/>
              </a:defRPr>
            </a:pPr>
            <a:r>
              <a:t>Confirms malformed / empty lines return None.</a:t>
            </a:r>
          </a:p>
        </p:txBody>
      </p:sp>
      <p:sp>
        <p:nvSpPr>
          <p:cNvPr id="7" name="Rounded Rectangle 6"/>
          <p:cNvSpPr/>
          <p:nvPr/>
        </p:nvSpPr>
        <p:spPr>
          <a:xfrm>
            <a:off x="6217920" y="1463040"/>
            <a:ext cx="2496312" cy="2651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FB923C"/>
                </a:solidFill>
                <a:latin typeface="Segoe UI"/>
              </a:defRPr>
            </a:pPr>
            <a:r>
              <a:t>TestAnalyzer</a:t>
            </a:r>
          </a:p>
          <a:p>
            <a:pPr>
              <a:spcAft>
                <a:spcPts val="600"/>
              </a:spcAft>
              <a:defRPr sz="1100">
                <a:solidFill>
                  <a:srgbClr val="94A3B8"/>
                </a:solidFill>
                <a:latin typeface="Segoe UI"/>
              </a:defRPr>
            </a:pPr>
            <a:r>
              <a:t>Validates total vs. parsed line counts.</a:t>
            </a:r>
          </a:p>
          <a:p>
            <a:pPr>
              <a:spcAft>
                <a:spcPts val="600"/>
              </a:spcAft>
              <a:defRPr sz="1100">
                <a:solidFill>
                  <a:srgbClr val="94A3B8"/>
                </a:solidFill>
                <a:latin typeface="Segoe UI"/>
              </a:defRPr>
            </a:pPr>
            <a:r>
              <a:t>Checks level counts and the top recurring error.</a:t>
            </a:r>
          </a:p>
        </p:txBody>
      </p:sp>
      <p:sp>
        <p:nvSpPr>
          <p:cNvPr id="8" name="Rounded Rectangle 7"/>
          <p:cNvSpPr/>
          <p:nvPr/>
        </p:nvSpPr>
        <p:spPr>
          <a:xfrm>
            <a:off x="8961120" y="1463040"/>
            <a:ext cx="2496312" cy="2651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34D399"/>
                </a:solidFill>
                <a:latin typeface="Segoe UI"/>
              </a:defRPr>
            </a:pPr>
            <a:r>
              <a:t>TestReporter</a:t>
            </a:r>
          </a:p>
          <a:p>
            <a:pPr>
              <a:spcAft>
                <a:spcPts val="600"/>
              </a:spcAft>
              <a:defRPr sz="1100">
                <a:solidFill>
                  <a:srgbClr val="94A3B8"/>
                </a:solidFill>
                <a:latin typeface="Segoe UI"/>
              </a:defRPr>
            </a:pPr>
            <a:r>
              <a:t>Ensures the report string is built correctly.</a:t>
            </a:r>
          </a:p>
          <a:p>
            <a:pPr>
              <a:spcAft>
                <a:spcPts val="600"/>
              </a:spcAft>
              <a:defRPr sz="1100">
                <a:solidFill>
                  <a:srgbClr val="94A3B8"/>
                </a:solidFill>
                <a:latin typeface="Segoe UI"/>
              </a:defRPr>
            </a:pPr>
            <a:r>
              <a:t>Confirms the CSV / text files are actually written.</a:t>
            </a:r>
          </a:p>
        </p:txBody>
      </p:sp>
      <p:sp>
        <p:nvSpPr>
          <p:cNvPr id="9" name="Rounded Rectangle 8"/>
          <p:cNvSpPr/>
          <p:nvPr/>
        </p:nvSpPr>
        <p:spPr>
          <a:xfrm>
            <a:off x="731520" y="4297680"/>
            <a:ext cx="10725912" cy="1920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400" b="1">
                <a:solidFill>
                  <a:srgbClr val="38BDF8"/>
                </a:solidFill>
                <a:latin typeface="Segoe UI"/>
              </a:defRPr>
            </a:pPr>
            <a:r>
              <a:t>Why testing is essential</a:t>
            </a:r>
          </a:p>
          <a:p>
            <a:pPr>
              <a:spcAft>
                <a:spcPts val="600"/>
              </a:spcAft>
              <a:defRPr sz="1200">
                <a:solidFill>
                  <a:srgbClr val="94A3B8"/>
                </a:solidFill>
                <a:latin typeface="Segoe UI"/>
              </a:defRPr>
            </a:pPr>
            <a:r>
              <a:t>Each module is tested in isolation, so a failure points to the exact stage that broke.</a:t>
            </a:r>
          </a:p>
          <a:p>
            <a:pPr>
              <a:spcAft>
                <a:spcPts val="600"/>
              </a:spcAft>
              <a:defRPr sz="1200">
                <a:solidFill>
                  <a:srgbClr val="94A3B8"/>
                </a:solidFill>
                <a:latin typeface="Segoe UI"/>
              </a:defRPr>
            </a:pPr>
            <a:r>
              <a:t>Tests act as a safety net: refactoring (e.g. renaming methods) is safe because the suite catches regressions.</a:t>
            </a:r>
          </a:p>
          <a:p>
            <a:pPr>
              <a:spcAft>
                <a:spcPts val="600"/>
              </a:spcAft>
              <a:defRPr sz="1200">
                <a:solidFill>
                  <a:srgbClr val="94A3B8"/>
                </a:solidFill>
                <a:latin typeface="Segoe UI"/>
              </a:defRPr>
            </a:pPr>
            <a:r>
              <a:t>They document the expected behavior — a new teammate can read the tests to understand each module's contract.</a:t>
            </a:r>
          </a:p>
          <a:p>
            <a:pPr>
              <a:spcAft>
                <a:spcPts val="600"/>
              </a:spcAft>
              <a:defRPr sz="1200">
                <a:solidFill>
                  <a:srgbClr val="94A3B8"/>
                </a:solidFill>
                <a:latin typeface="Segoe UI"/>
              </a:defRPr>
            </a:pPr>
            <a:r>
              <a:t>Run with:  python3 -m unittest test/test_cases.py -v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7. PERFORMANCE &amp; METRICS</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Processing Benchmarks &amp; System Efficiency</a:t>
            </a:r>
          </a:p>
        </p:txBody>
      </p:sp>
      <p:sp>
        <p:nvSpPr>
          <p:cNvPr id="5" name="Rounded Rectangle 4"/>
          <p:cNvSpPr/>
          <p:nvPr/>
        </p:nvSpPr>
        <p:spPr>
          <a:xfrm>
            <a:off x="731520" y="1463040"/>
            <a:ext cx="3410712"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spcAft>
                <a:spcPts val="200"/>
              </a:spcAft>
              <a:defRPr sz="4200" b="1">
                <a:solidFill>
                  <a:srgbClr val="38BDF8"/>
                </a:solidFill>
                <a:latin typeface="Segoe UI"/>
              </a:defRPr>
            </a:pPr>
            <a:r>
              <a:t>100,000</a:t>
            </a:r>
          </a:p>
          <a:p>
            <a:pPr>
              <a:spcAft>
                <a:spcPts val="600"/>
              </a:spcAft>
              <a:defRPr sz="1400" b="1">
                <a:solidFill>
                  <a:srgbClr val="F8FAFC"/>
                </a:solidFill>
                <a:latin typeface="Segoe UI"/>
              </a:defRPr>
            </a:pPr>
            <a:r>
              <a:t>Lines Processed</a:t>
            </a:r>
          </a:p>
          <a:p>
            <a:pPr>
              <a:defRPr sz="1100">
                <a:solidFill>
                  <a:srgbClr val="94A3B8"/>
                </a:solidFill>
                <a:latin typeface="Segoe UI"/>
              </a:defRPr>
            </a:pPr>
            <a:r>
              <a:t>Total log lines streamed from data/large_sample.log in a single run.</a:t>
            </a:r>
          </a:p>
        </p:txBody>
      </p:sp>
      <p:sp>
        <p:nvSpPr>
          <p:cNvPr id="6" name="Rounded Rectangle 5"/>
          <p:cNvSpPr/>
          <p:nvPr/>
        </p:nvSpPr>
        <p:spPr>
          <a:xfrm>
            <a:off x="4389120" y="1463040"/>
            <a:ext cx="3410712"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spcAft>
                <a:spcPts val="200"/>
              </a:spcAft>
              <a:defRPr sz="4200" b="1">
                <a:solidFill>
                  <a:srgbClr val="34D399"/>
                </a:solidFill>
                <a:latin typeface="Segoe UI"/>
              </a:defRPr>
            </a:pPr>
            <a:r>
              <a:t>99.82%</a:t>
            </a:r>
          </a:p>
          <a:p>
            <a:pPr>
              <a:spcAft>
                <a:spcPts val="600"/>
              </a:spcAft>
              <a:defRPr sz="1400" b="1">
                <a:solidFill>
                  <a:srgbClr val="F8FAFC"/>
                </a:solidFill>
                <a:latin typeface="Segoe UI"/>
              </a:defRPr>
            </a:pPr>
            <a:r>
              <a:t>Parse Success Rate</a:t>
            </a:r>
          </a:p>
          <a:p>
            <a:pPr>
              <a:defRPr sz="1100">
                <a:solidFill>
                  <a:srgbClr val="94A3B8"/>
                </a:solidFill>
                <a:latin typeface="Segoe UI"/>
              </a:defRPr>
            </a:pPr>
            <a:r>
              <a:t>99,820 of 100,000 lines parsed cleanly; 180 malformed lines safely skipped.</a:t>
            </a:r>
          </a:p>
        </p:txBody>
      </p:sp>
      <p:sp>
        <p:nvSpPr>
          <p:cNvPr id="7" name="Rounded Rectangle 6"/>
          <p:cNvSpPr/>
          <p:nvPr/>
        </p:nvSpPr>
        <p:spPr>
          <a:xfrm>
            <a:off x="8046720" y="1463040"/>
            <a:ext cx="3410712"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spcAft>
                <a:spcPts val="200"/>
              </a:spcAft>
              <a:defRPr sz="4200" b="1">
                <a:solidFill>
                  <a:srgbClr val="A78BFA"/>
                </a:solidFill>
                <a:latin typeface="Segoe UI"/>
              </a:defRPr>
            </a:pPr>
            <a:r>
              <a:t>180</a:t>
            </a:r>
          </a:p>
          <a:p>
            <a:pPr>
              <a:spcAft>
                <a:spcPts val="600"/>
              </a:spcAft>
              <a:defRPr sz="1400" b="1">
                <a:solidFill>
                  <a:srgbClr val="F8FAFC"/>
                </a:solidFill>
                <a:latin typeface="Segoe UI"/>
              </a:defRPr>
            </a:pPr>
            <a:r>
              <a:t>Malformed Skipped</a:t>
            </a:r>
          </a:p>
          <a:p>
            <a:pPr>
              <a:defRPr sz="1100">
                <a:solidFill>
                  <a:srgbClr val="94A3B8"/>
                </a:solidFill>
                <a:latin typeface="Segoe UI"/>
              </a:defRPr>
            </a:pPr>
            <a:r>
              <a:t>Non-conforming lines counted (not dropped silently) and reported as skipped.</a:t>
            </a:r>
          </a:p>
        </p:txBody>
      </p:sp>
      <p:sp>
        <p:nvSpPr>
          <p:cNvPr id="8" name="Rounded Rectangle 7"/>
          <p:cNvSpPr/>
          <p:nvPr/>
        </p:nvSpPr>
        <p:spPr>
          <a:xfrm>
            <a:off x="731520" y="3703320"/>
            <a:ext cx="10725912" cy="2514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201168" rIns="274320" rtlCol="0" anchor="ctr"/>
          <a:lstStyle/>
          <a:p>
            <a:pPr algn="ctr">
              <a:spcAft>
                <a:spcPts val="800"/>
              </a:spcAft>
              <a:defRPr sz="1600" b="1">
                <a:solidFill>
                  <a:srgbClr val="38BDF8"/>
                </a:solidFill>
                <a:latin typeface="Segoe UI"/>
              </a:defRPr>
            </a:pPr>
            <a:r>
              <a:t>Log Level Distribution (data/large_sample.log — 100,000 lines)</a:t>
            </a:r>
          </a:p>
          <a:p>
            <a:pPr>
              <a:spcAft>
                <a:spcPts val="400"/>
              </a:spcAft>
              <a:defRPr sz="1150">
                <a:solidFill>
                  <a:srgbClr val="94A3B8"/>
                </a:solidFill>
                <a:latin typeface="Segoe UI"/>
              </a:defRPr>
            </a:pPr>
            <a:r>
              <a:t>• INFO Entries: 84,700 events (84.7%) — Routine operational logs: logins, successful requests, health checks, completed jobs.</a:t>
            </a:r>
          </a:p>
          <a:p>
            <a:pPr>
              <a:spcAft>
                <a:spcPts val="400"/>
              </a:spcAft>
              <a:defRPr sz="1150">
                <a:solidFill>
                  <a:srgbClr val="94A3B8"/>
                </a:solidFill>
                <a:latin typeface="Segoe UI"/>
              </a:defRPr>
            </a:pPr>
            <a:r>
              <a:t>• ERROR Exceptions: 10,770 events (10.8%) — Connection timeouts, gateway rejections, expired tokens, 500s, broker failures.</a:t>
            </a:r>
          </a:p>
          <a:p>
            <a:pPr>
              <a:spcAft>
                <a:spcPts val="400"/>
              </a:spcAft>
              <a:defRPr sz="1150">
                <a:solidFill>
                  <a:srgbClr val="94A3B8"/>
                </a:solidFill>
                <a:latin typeface="Segoe UI"/>
              </a:defRPr>
            </a:pPr>
            <a:r>
              <a:t>• WARNING Notifications: 4,350 events (4.4%) — Redis key expiry, disk usage alerts, transient upstream retries.</a:t>
            </a:r>
          </a:p>
          <a:p>
            <a:pPr>
              <a:spcAft>
                <a:spcPts val="400"/>
              </a:spcAft>
              <a:defRPr sz="1150">
                <a:solidFill>
                  <a:srgbClr val="94A3B8"/>
                </a:solidFill>
                <a:latin typeface="Segoe UI"/>
              </a:defRPr>
            </a:pPr>
            <a:r>
              <a:t>• Malformed / Skipped: 180 lines (0.18%) — Corrupted fragments lacking the standard timestamp/level format.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8. ERROR ANALYTICS</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Top Recurring Error Signatures Isolated (collections.Counter)</a:t>
            </a:r>
          </a:p>
        </p:txBody>
      </p:sp>
      <p:sp>
        <p:nvSpPr>
          <p:cNvPr id="5" name="TextBox 4"/>
          <p:cNvSpPr txBox="1"/>
          <p:nvPr/>
        </p:nvSpPr>
        <p:spPr>
          <a:xfrm>
            <a:off x="731520" y="1371600"/>
            <a:ext cx="10725912" cy="457200"/>
          </a:xfrm>
          <a:prstGeom prst="rect">
            <a:avLst/>
          </a:prstGeom>
          <a:noFill/>
        </p:spPr>
        <p:txBody>
          <a:bodyPr wrap="none" lIns="0" tIns="0" rIns="0" bIns="0">
            <a:spAutoFit/>
          </a:bodyPr>
          <a:lstStyle/>
          <a:p>
            <a:pPr>
              <a:defRPr sz="1300">
                <a:solidFill>
                  <a:srgbClr val="CBD5E1"/>
                </a:solidFill>
                <a:latin typeface="Segoe UI"/>
              </a:defRPr>
            </a:pPr>
            <a:r>
              <a:t>Top-5 errors from data/large_sample.log via analyzer.get_top_errors(5), keyed as 'module: message':</a:t>
            </a:r>
          </a:p>
        </p:txBody>
      </p:sp>
      <p:graphicFrame>
        <p:nvGraphicFramePr>
          <p:cNvPr id="6" name="Table 5"/>
          <p:cNvGraphicFramePr>
            <a:graphicFrameLocks noGrp="1"/>
          </p:cNvGraphicFramePr>
          <p:nvPr/>
        </p:nvGraphicFramePr>
        <p:xfrm>
          <a:off x="731520" y="1920240"/>
          <a:ext cx="10725912" cy="41148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502152">
                  <a:extLst>
                    <a:ext uri="{9D8B030D-6E8A-4147-A177-3AD203B41FA5}">
                      <a16:colId xmlns:a16="http://schemas.microsoft.com/office/drawing/2014/main" val="20003"/>
                    </a:ext>
                  </a:extLst>
                </a:gridCol>
              </a:tblGrid>
              <a:tr h="685800">
                <a:tc>
                  <a:txBody>
                    <a:bodyPr/>
                    <a:lstStyle/>
                    <a:p>
                      <a:pPr>
                        <a:defRPr sz="1200" b="1">
                          <a:solidFill>
                            <a:srgbClr val="38BDF8"/>
                          </a:solidFill>
                          <a:latin typeface="Segoe UI"/>
                        </a:defRPr>
                      </a:pPr>
                      <a:r>
                        <a:t>Error Signature (module: message)</a:t>
                      </a:r>
                    </a:p>
                  </a:txBody>
                  <a:tcPr anchor="ctr">
                    <a:solidFill>
                      <a:srgbClr val="182641"/>
                    </a:solidFill>
                  </a:tcPr>
                </a:tc>
                <a:tc>
                  <a:txBody>
                    <a:bodyPr/>
                    <a:lstStyle/>
                    <a:p>
                      <a:pPr>
                        <a:defRPr sz="1200" b="1">
                          <a:solidFill>
                            <a:srgbClr val="38BDF8"/>
                          </a:solidFill>
                          <a:latin typeface="Segoe UI"/>
                        </a:defRPr>
                      </a:pPr>
                      <a:r>
                        <a:t>Occurrences</a:t>
                      </a:r>
                    </a:p>
                  </a:txBody>
                  <a:tcPr anchor="ctr">
                    <a:solidFill>
                      <a:srgbClr val="182641"/>
                    </a:solidFill>
                  </a:tcPr>
                </a:tc>
                <a:tc>
                  <a:txBody>
                    <a:bodyPr/>
                    <a:lstStyle/>
                    <a:p>
                      <a:pPr>
                        <a:defRPr sz="1200" b="1">
                          <a:solidFill>
                            <a:srgbClr val="38BDF8"/>
                          </a:solidFill>
                          <a:latin typeface="Segoe UI"/>
                        </a:defRPr>
                      </a:pPr>
                      <a:r>
                        <a:t>Module</a:t>
                      </a:r>
                    </a:p>
                  </a:txBody>
                  <a:tcPr anchor="ctr">
                    <a:solidFill>
                      <a:srgbClr val="182641"/>
                    </a:solidFill>
                  </a:tcPr>
                </a:tc>
                <a:tc>
                  <a:txBody>
                    <a:bodyPr/>
                    <a:lstStyle/>
                    <a:p>
                      <a:pPr>
                        <a:defRPr sz="1200" b="1">
                          <a:solidFill>
                            <a:srgbClr val="38BDF8"/>
                          </a:solidFill>
                          <a:latin typeface="Segoe UI"/>
                        </a:defRPr>
                      </a:pPr>
                      <a:r>
                        <a:t>Representative Root Cause</a:t>
                      </a:r>
                    </a:p>
                  </a:txBody>
                  <a:tcPr anchor="ctr">
                    <a:solidFill>
                      <a:srgbClr val="182641"/>
                    </a:solidFill>
                  </a:tcPr>
                </a:tc>
                <a:extLst>
                  <a:ext uri="{0D108BD9-81ED-4DB2-BD59-A6C34878D82A}">
                    <a16:rowId xmlns:a16="http://schemas.microsoft.com/office/drawing/2014/main" val="10000"/>
                  </a:ext>
                </a:extLst>
              </a:tr>
              <a:tr h="685800">
                <a:tc>
                  <a:txBody>
                    <a:bodyPr/>
                    <a:lstStyle/>
                    <a:p>
                      <a:pPr>
                        <a:defRPr sz="1100" b="0">
                          <a:solidFill>
                            <a:srgbClr val="F8FAFC"/>
                          </a:solidFill>
                          <a:latin typeface="Segoe UI"/>
                        </a:defRPr>
                      </a:pPr>
                      <a:r>
                        <a:t>Connection timeout reached</a:t>
                      </a:r>
                    </a:p>
                  </a:txBody>
                  <a:tcPr anchor="ctr">
                    <a:solidFill>
                      <a:srgbClr val="1E293B"/>
                    </a:solidFill>
                  </a:tcPr>
                </a:tc>
                <a:tc>
                  <a:txBody>
                    <a:bodyPr/>
                    <a:lstStyle/>
                    <a:p>
                      <a:pPr>
                        <a:defRPr sz="1100" b="0">
                          <a:solidFill>
                            <a:srgbClr val="94A3B8"/>
                          </a:solidFill>
                          <a:latin typeface="Segoe UI"/>
                        </a:defRPr>
                      </a:pPr>
                      <a:r>
                        <a:t>4,120 (38.3%)</a:t>
                      </a:r>
                    </a:p>
                  </a:txBody>
                  <a:tcPr anchor="ctr">
                    <a:solidFill>
                      <a:srgbClr val="1E293B"/>
                    </a:solidFill>
                  </a:tcPr>
                </a:tc>
                <a:tc>
                  <a:txBody>
                    <a:bodyPr/>
                    <a:lstStyle/>
                    <a:p>
                      <a:pPr>
                        <a:defRPr sz="1100" b="0">
                          <a:solidFill>
                            <a:srgbClr val="94A3B8"/>
                          </a:solidFill>
                          <a:latin typeface="Segoe UI"/>
                        </a:defRPr>
                      </a:pPr>
                      <a:r>
                        <a:t>db_pool</a:t>
                      </a:r>
                    </a:p>
                  </a:txBody>
                  <a:tcPr anchor="ctr">
                    <a:solidFill>
                      <a:srgbClr val="1E293B"/>
                    </a:solidFill>
                  </a:tcPr>
                </a:tc>
                <a:tc>
                  <a:txBody>
                    <a:bodyPr/>
                    <a:lstStyle/>
                    <a:p>
                      <a:pPr>
                        <a:defRPr sz="1100" b="0">
                          <a:solidFill>
                            <a:srgbClr val="94A3B8"/>
                          </a:solidFill>
                          <a:latin typeface="Segoe UI"/>
                        </a:defRPr>
                      </a:pPr>
                      <a:r>
                        <a:t>Connection pool exhaustion under peak load</a:t>
                      </a:r>
                    </a:p>
                  </a:txBody>
                  <a:tcPr anchor="ctr">
                    <a:solidFill>
                      <a:srgbClr val="1E293B"/>
                    </a:solidFill>
                  </a:tcPr>
                </a:tc>
                <a:extLst>
                  <a:ext uri="{0D108BD9-81ED-4DB2-BD59-A6C34878D82A}">
                    <a16:rowId xmlns:a16="http://schemas.microsoft.com/office/drawing/2014/main" val="10001"/>
                  </a:ext>
                </a:extLst>
              </a:tr>
              <a:tr h="685800">
                <a:tc>
                  <a:txBody>
                    <a:bodyPr/>
                    <a:lstStyle/>
                    <a:p>
                      <a:pPr>
                        <a:defRPr sz="1100" b="0">
                          <a:solidFill>
                            <a:srgbClr val="F8FAFC"/>
                          </a:solidFill>
                          <a:latin typeface="Segoe UI"/>
                        </a:defRPr>
                      </a:pPr>
                      <a:r>
                        <a:t>Gateway rejected transaction 504</a:t>
                      </a:r>
                    </a:p>
                  </a:txBody>
                  <a:tcPr anchor="ctr">
                    <a:solidFill>
                      <a:srgbClr val="18212F"/>
                    </a:solidFill>
                  </a:tcPr>
                </a:tc>
                <a:tc>
                  <a:txBody>
                    <a:bodyPr/>
                    <a:lstStyle/>
                    <a:p>
                      <a:pPr>
                        <a:defRPr sz="1100" b="0">
                          <a:solidFill>
                            <a:srgbClr val="94A3B8"/>
                          </a:solidFill>
                          <a:latin typeface="Segoe UI"/>
                        </a:defRPr>
                      </a:pPr>
                      <a:r>
                        <a:t>3,040 (28.2%)</a:t>
                      </a:r>
                    </a:p>
                  </a:txBody>
                  <a:tcPr anchor="ctr">
                    <a:solidFill>
                      <a:srgbClr val="18212F"/>
                    </a:solidFill>
                  </a:tcPr>
                </a:tc>
                <a:tc>
                  <a:txBody>
                    <a:bodyPr/>
                    <a:lstStyle/>
                    <a:p>
                      <a:pPr>
                        <a:defRPr sz="1100" b="0">
                          <a:solidFill>
                            <a:srgbClr val="94A3B8"/>
                          </a:solidFill>
                          <a:latin typeface="Segoe UI"/>
                        </a:defRPr>
                      </a:pPr>
                      <a:r>
                        <a:t>payment</a:t>
                      </a:r>
                    </a:p>
                  </a:txBody>
                  <a:tcPr anchor="ctr">
                    <a:solidFill>
                      <a:srgbClr val="18212F"/>
                    </a:solidFill>
                  </a:tcPr>
                </a:tc>
                <a:tc>
                  <a:txBody>
                    <a:bodyPr/>
                    <a:lstStyle/>
                    <a:p>
                      <a:pPr>
                        <a:defRPr sz="1100" b="0">
                          <a:solidFill>
                            <a:srgbClr val="94A3B8"/>
                          </a:solidFill>
                          <a:latin typeface="Segoe UI"/>
                        </a:defRPr>
                      </a:pPr>
                      <a:r>
                        <a:t>Upstream payment vendor latency / timeout</a:t>
                      </a:r>
                    </a:p>
                  </a:txBody>
                  <a:tcPr anchor="ctr">
                    <a:solidFill>
                      <a:srgbClr val="18212F"/>
                    </a:solidFill>
                  </a:tcPr>
                </a:tc>
                <a:extLst>
                  <a:ext uri="{0D108BD9-81ED-4DB2-BD59-A6C34878D82A}">
                    <a16:rowId xmlns:a16="http://schemas.microsoft.com/office/drawing/2014/main" val="10002"/>
                  </a:ext>
                </a:extLst>
              </a:tr>
              <a:tr h="685800">
                <a:tc>
                  <a:txBody>
                    <a:bodyPr/>
                    <a:lstStyle/>
                    <a:p>
                      <a:pPr>
                        <a:defRPr sz="1100" b="0">
                          <a:solidFill>
                            <a:srgbClr val="F8FAFC"/>
                          </a:solidFill>
                          <a:latin typeface="Segoe UI"/>
                        </a:defRPr>
                      </a:pPr>
                      <a:r>
                        <a:t>Token signature expired</a:t>
                      </a:r>
                    </a:p>
                  </a:txBody>
                  <a:tcPr anchor="ctr">
                    <a:solidFill>
                      <a:srgbClr val="1E293B"/>
                    </a:solidFill>
                  </a:tcPr>
                </a:tc>
                <a:tc>
                  <a:txBody>
                    <a:bodyPr/>
                    <a:lstStyle/>
                    <a:p>
                      <a:pPr>
                        <a:defRPr sz="1100" b="0">
                          <a:solidFill>
                            <a:srgbClr val="94A3B8"/>
                          </a:solidFill>
                          <a:latin typeface="Segoe UI"/>
                        </a:defRPr>
                      </a:pPr>
                      <a:r>
                        <a:t>1,510 (14.0%)</a:t>
                      </a:r>
                    </a:p>
                  </a:txBody>
                  <a:tcPr anchor="ctr">
                    <a:solidFill>
                      <a:srgbClr val="1E293B"/>
                    </a:solidFill>
                  </a:tcPr>
                </a:tc>
                <a:tc>
                  <a:txBody>
                    <a:bodyPr/>
                    <a:lstStyle/>
                    <a:p>
                      <a:pPr>
                        <a:defRPr sz="1100" b="0">
                          <a:solidFill>
                            <a:srgbClr val="94A3B8"/>
                          </a:solidFill>
                          <a:latin typeface="Segoe UI"/>
                        </a:defRPr>
                      </a:pPr>
                      <a:r>
                        <a:t>auth</a:t>
                      </a:r>
                    </a:p>
                  </a:txBody>
                  <a:tcPr anchor="ctr">
                    <a:solidFill>
                      <a:srgbClr val="1E293B"/>
                    </a:solidFill>
                  </a:tcPr>
                </a:tc>
                <a:tc>
                  <a:txBody>
                    <a:bodyPr/>
                    <a:lstStyle/>
                    <a:p>
                      <a:pPr>
                        <a:defRPr sz="1100" b="0">
                          <a:solidFill>
                            <a:srgbClr val="94A3B8"/>
                          </a:solidFill>
                          <a:latin typeface="Segoe UI"/>
                        </a:defRPr>
                      </a:pPr>
                      <a:r>
                        <a:t>Client token refresh race condition</a:t>
                      </a:r>
                    </a:p>
                  </a:txBody>
                  <a:tcPr anchor="ctr">
                    <a:solidFill>
                      <a:srgbClr val="1E293B"/>
                    </a:solidFill>
                  </a:tcPr>
                </a:tc>
                <a:extLst>
                  <a:ext uri="{0D108BD9-81ED-4DB2-BD59-A6C34878D82A}">
                    <a16:rowId xmlns:a16="http://schemas.microsoft.com/office/drawing/2014/main" val="10003"/>
                  </a:ext>
                </a:extLst>
              </a:tr>
              <a:tr h="685800">
                <a:tc>
                  <a:txBody>
                    <a:bodyPr/>
                    <a:lstStyle/>
                    <a:p>
                      <a:pPr>
                        <a:defRPr sz="1100" b="0">
                          <a:solidFill>
                            <a:srgbClr val="F8FAFC"/>
                          </a:solidFill>
                          <a:latin typeface="Segoe UI"/>
                        </a:defRPr>
                      </a:pPr>
                      <a:r>
                        <a:t>Internal server error 500</a:t>
                      </a:r>
                    </a:p>
                  </a:txBody>
                  <a:tcPr anchor="ctr">
                    <a:solidFill>
                      <a:srgbClr val="18212F"/>
                    </a:solidFill>
                  </a:tcPr>
                </a:tc>
                <a:tc>
                  <a:txBody>
                    <a:bodyPr/>
                    <a:lstStyle/>
                    <a:p>
                      <a:pPr>
                        <a:defRPr sz="1100" b="0">
                          <a:solidFill>
                            <a:srgbClr val="94A3B8"/>
                          </a:solidFill>
                          <a:latin typeface="Segoe UI"/>
                        </a:defRPr>
                      </a:pPr>
                      <a:r>
                        <a:t>1,200 (11.1%)</a:t>
                      </a:r>
                    </a:p>
                  </a:txBody>
                  <a:tcPr anchor="ctr">
                    <a:solidFill>
                      <a:srgbClr val="18212F"/>
                    </a:solidFill>
                  </a:tcPr>
                </a:tc>
                <a:tc>
                  <a:txBody>
                    <a:bodyPr/>
                    <a:lstStyle/>
                    <a:p>
                      <a:pPr>
                        <a:defRPr sz="1100" b="0">
                          <a:solidFill>
                            <a:srgbClr val="94A3B8"/>
                          </a:solidFill>
                          <a:latin typeface="Segoe UI"/>
                        </a:defRPr>
                      </a:pPr>
                      <a:r>
                        <a:t>web</a:t>
                      </a:r>
                    </a:p>
                  </a:txBody>
                  <a:tcPr anchor="ctr">
                    <a:solidFill>
                      <a:srgbClr val="18212F"/>
                    </a:solidFill>
                  </a:tcPr>
                </a:tc>
                <a:tc>
                  <a:txBody>
                    <a:bodyPr/>
                    <a:lstStyle/>
                    <a:p>
                      <a:pPr>
                        <a:defRPr sz="1100" b="0">
                          <a:solidFill>
                            <a:srgbClr val="94A3B8"/>
                          </a:solidFill>
                          <a:latin typeface="Segoe UI"/>
                        </a:defRPr>
                      </a:pPr>
                      <a:r>
                        <a:t>Unhandled exception in request handler</a:t>
                      </a:r>
                    </a:p>
                  </a:txBody>
                  <a:tcPr anchor="ctr">
                    <a:solidFill>
                      <a:srgbClr val="18212F"/>
                    </a:solidFill>
                  </a:tcPr>
                </a:tc>
                <a:extLst>
                  <a:ext uri="{0D108BD9-81ED-4DB2-BD59-A6C34878D82A}">
                    <a16:rowId xmlns:a16="http://schemas.microsoft.com/office/drawing/2014/main" val="10004"/>
                  </a:ext>
                </a:extLst>
              </a:tr>
              <a:tr h="685800">
                <a:tc>
                  <a:txBody>
                    <a:bodyPr/>
                    <a:lstStyle/>
                    <a:p>
                      <a:pPr>
                        <a:defRPr sz="1100" b="0">
                          <a:solidFill>
                            <a:srgbClr val="F8FAFC"/>
                          </a:solidFill>
                          <a:latin typeface="Segoe UI"/>
                        </a:defRPr>
                      </a:pPr>
                      <a:r>
                        <a:t>Message broker unreachable</a:t>
                      </a:r>
                    </a:p>
                  </a:txBody>
                  <a:tcPr anchor="ctr">
                    <a:solidFill>
                      <a:srgbClr val="1E293B"/>
                    </a:solidFill>
                  </a:tcPr>
                </a:tc>
                <a:tc>
                  <a:txBody>
                    <a:bodyPr/>
                    <a:lstStyle/>
                    <a:p>
                      <a:pPr>
                        <a:defRPr sz="1100" b="0">
                          <a:solidFill>
                            <a:srgbClr val="94A3B8"/>
                          </a:solidFill>
                          <a:latin typeface="Segoe UI"/>
                        </a:defRPr>
                      </a:pPr>
                      <a:r>
                        <a:t>900 (8.4%)</a:t>
                      </a:r>
                    </a:p>
                  </a:txBody>
                  <a:tcPr anchor="ctr">
                    <a:solidFill>
                      <a:srgbClr val="1E293B"/>
                    </a:solidFill>
                  </a:tcPr>
                </a:tc>
                <a:tc>
                  <a:txBody>
                    <a:bodyPr/>
                    <a:lstStyle/>
                    <a:p>
                      <a:pPr>
                        <a:defRPr sz="1100" b="0">
                          <a:solidFill>
                            <a:srgbClr val="94A3B8"/>
                          </a:solidFill>
                          <a:latin typeface="Segoe UI"/>
                        </a:defRPr>
                      </a:pPr>
                      <a:r>
                        <a:t>queue</a:t>
                      </a:r>
                    </a:p>
                  </a:txBody>
                  <a:tcPr anchor="ctr">
                    <a:solidFill>
                      <a:srgbClr val="1E293B"/>
                    </a:solidFill>
                  </a:tcPr>
                </a:tc>
                <a:tc>
                  <a:txBody>
                    <a:bodyPr/>
                    <a:lstStyle/>
                    <a:p>
                      <a:pPr>
                        <a:defRPr sz="1100" b="0">
                          <a:solidFill>
                            <a:srgbClr val="94A3B8"/>
                          </a:solidFill>
                          <a:latin typeface="Segoe UI"/>
                        </a:defRPr>
                      </a:pPr>
                      <a:r>
                        <a:t>Broker node outage / network partition</a:t>
                      </a:r>
                    </a:p>
                  </a:txBody>
                  <a:tcPr anchor="ctr">
                    <a:solidFill>
                      <a:srgbClr val="1E293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9. PROJECT EXECUTION</a:t>
            </a:r>
          </a:p>
        </p:txBody>
      </p:sp>
      <p:sp>
        <p:nvSpPr>
          <p:cNvPr id="4" name="TextBox 3"/>
          <p:cNvSpPr txBox="1"/>
          <p:nvPr/>
        </p:nvSpPr>
        <p:spPr>
          <a:xfrm>
            <a:off x="731520" y="658368"/>
            <a:ext cx="10515600" cy="369332"/>
          </a:xfrm>
          <a:prstGeom prst="rect">
            <a:avLst/>
          </a:prstGeom>
          <a:noFill/>
        </p:spPr>
        <p:txBody>
          <a:bodyPr wrap="square" lIns="0" tIns="0" rIns="0" bIns="0">
            <a:spAutoFit/>
          </a:bodyPr>
          <a:lstStyle/>
          <a:p>
            <a:pPr>
              <a:defRPr sz="2400" b="1">
                <a:solidFill>
                  <a:srgbClr val="F8FAFC"/>
                </a:solidFill>
                <a:latin typeface="Segoe UI"/>
              </a:defRPr>
            </a:pPr>
            <a:r>
              <a:rPr dirty="0"/>
              <a:t>Implementation Roadmap</a:t>
            </a:r>
          </a:p>
        </p:txBody>
      </p:sp>
      <p:sp>
        <p:nvSpPr>
          <p:cNvPr id="5" name="Rounded Rectangle 4"/>
          <p:cNvSpPr/>
          <p:nvPr/>
        </p:nvSpPr>
        <p:spPr>
          <a:xfrm>
            <a:off x="731520" y="1463040"/>
            <a:ext cx="1947672"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201168" rIns="164592" rtlCol="0" anchor="ctr"/>
          <a:lstStyle/>
          <a:p>
            <a:pPr algn="ctr">
              <a:defRPr sz="1350" b="1">
                <a:solidFill>
                  <a:srgbClr val="38BDF8"/>
                </a:solidFill>
                <a:latin typeface="Segoe UI"/>
              </a:defRPr>
            </a:pPr>
            <a:r>
              <a:rPr dirty="0"/>
              <a:t>Phase 1: Setup</a:t>
            </a:r>
          </a:p>
          <a:p>
            <a:pPr>
              <a:spcAft>
                <a:spcPts val="1200"/>
              </a:spcAft>
              <a:defRPr sz="1100" b="1">
                <a:solidFill>
                  <a:srgbClr val="F8FAFC"/>
                </a:solidFill>
                <a:latin typeface="Segoe UI"/>
              </a:defRPr>
            </a:pPr>
            <a:r>
              <a:rPr lang="en-US" dirty="0"/>
              <a:t>         25</a:t>
            </a:r>
            <a:r>
              <a:rPr dirty="0"/>
              <a:t> Minutes</a:t>
            </a:r>
          </a:p>
          <a:p>
            <a:pPr>
              <a:spcAft>
                <a:spcPts val="600"/>
              </a:spcAft>
              <a:defRPr sz="1050">
                <a:solidFill>
                  <a:srgbClr val="94A3B8"/>
                </a:solidFill>
                <a:latin typeface="Segoe UI"/>
              </a:defRPr>
            </a:pPr>
            <a:r>
              <a:rPr dirty="0"/>
              <a:t>• Deconstruct</a:t>
            </a:r>
            <a:r>
              <a:rPr lang="en-US" dirty="0"/>
              <a:t>ed</a:t>
            </a:r>
            <a:r>
              <a:rPr dirty="0"/>
              <a:t> problem statement &amp; inputs.</a:t>
            </a:r>
          </a:p>
          <a:p>
            <a:pPr>
              <a:spcAft>
                <a:spcPts val="600"/>
              </a:spcAft>
              <a:defRPr sz="1050">
                <a:solidFill>
                  <a:srgbClr val="94A3B8"/>
                </a:solidFill>
                <a:latin typeface="Segoe UI"/>
              </a:defRPr>
            </a:pPr>
            <a:r>
              <a:rPr dirty="0"/>
              <a:t>• Design</a:t>
            </a:r>
            <a:r>
              <a:rPr lang="en-US" dirty="0"/>
              <a:t>ed</a:t>
            </a:r>
            <a:r>
              <a:rPr dirty="0"/>
              <a:t> shared log data structures &amp; schema.</a:t>
            </a:r>
          </a:p>
          <a:p>
            <a:pPr>
              <a:spcAft>
                <a:spcPts val="600"/>
              </a:spcAft>
              <a:defRPr sz="1050">
                <a:solidFill>
                  <a:srgbClr val="94A3B8"/>
                </a:solidFill>
                <a:latin typeface="Segoe UI"/>
              </a:defRPr>
            </a:pPr>
            <a:r>
              <a:rPr dirty="0"/>
              <a:t>• Partition</a:t>
            </a:r>
            <a:r>
              <a:rPr lang="en-US" dirty="0"/>
              <a:t>ed</a:t>
            </a:r>
            <a:r>
              <a:rPr dirty="0"/>
              <a:t> tasks across 4 team participants.</a:t>
            </a:r>
          </a:p>
          <a:p>
            <a:pPr>
              <a:spcAft>
                <a:spcPts val="600"/>
              </a:spcAft>
              <a:defRPr sz="1050">
                <a:solidFill>
                  <a:srgbClr val="94A3B8"/>
                </a:solidFill>
                <a:latin typeface="Segoe UI"/>
              </a:defRPr>
            </a:pPr>
            <a:r>
              <a:rPr dirty="0"/>
              <a:t>• Initialize</a:t>
            </a:r>
            <a:r>
              <a:rPr lang="en-US" dirty="0"/>
              <a:t>d</a:t>
            </a:r>
            <a:r>
              <a:rPr dirty="0"/>
              <a:t> Git repo &amp; environment.</a:t>
            </a:r>
          </a:p>
        </p:txBody>
      </p:sp>
      <p:sp>
        <p:nvSpPr>
          <p:cNvPr id="6" name="Rounded Rectangle 5"/>
          <p:cNvSpPr/>
          <p:nvPr/>
        </p:nvSpPr>
        <p:spPr>
          <a:xfrm>
            <a:off x="2794475" y="1463040"/>
            <a:ext cx="2079277"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201168" rIns="164592" rtlCol="0" anchor="ctr"/>
          <a:lstStyle/>
          <a:p>
            <a:pPr algn="ctr">
              <a:defRPr sz="1350" b="1">
                <a:solidFill>
                  <a:srgbClr val="A78BFA"/>
                </a:solidFill>
                <a:latin typeface="Segoe UI"/>
              </a:defRPr>
            </a:pPr>
            <a:r>
              <a:rPr dirty="0"/>
              <a:t>Phase 2: Core Build</a:t>
            </a:r>
          </a:p>
          <a:p>
            <a:pPr>
              <a:spcAft>
                <a:spcPts val="1200"/>
              </a:spcAft>
              <a:defRPr sz="1100" b="1">
                <a:solidFill>
                  <a:srgbClr val="F8FAFC"/>
                </a:solidFill>
                <a:latin typeface="Segoe UI"/>
              </a:defRPr>
            </a:pPr>
            <a:r>
              <a:rPr lang="en-US" dirty="0"/>
              <a:t>             1.5 </a:t>
            </a:r>
            <a:r>
              <a:rPr dirty="0"/>
              <a:t>Hours</a:t>
            </a:r>
          </a:p>
          <a:p>
            <a:pPr>
              <a:spcAft>
                <a:spcPts val="600"/>
              </a:spcAft>
              <a:defRPr sz="1050">
                <a:solidFill>
                  <a:srgbClr val="94A3B8"/>
                </a:solidFill>
                <a:latin typeface="Segoe UI"/>
              </a:defRPr>
            </a:pPr>
            <a:r>
              <a:rPr dirty="0"/>
              <a:t>• Implement</a:t>
            </a:r>
            <a:r>
              <a:rPr lang="en-US" dirty="0"/>
              <a:t>ed</a:t>
            </a:r>
            <a:r>
              <a:rPr dirty="0"/>
              <a:t> lazy file iterator streamer.</a:t>
            </a:r>
          </a:p>
          <a:p>
            <a:pPr>
              <a:spcAft>
                <a:spcPts val="600"/>
              </a:spcAft>
              <a:defRPr sz="1050">
                <a:solidFill>
                  <a:srgbClr val="94A3B8"/>
                </a:solidFill>
                <a:latin typeface="Segoe UI"/>
              </a:defRPr>
            </a:pPr>
            <a:r>
              <a:rPr dirty="0"/>
              <a:t>• Buil</a:t>
            </a:r>
            <a:r>
              <a:rPr lang="en-US" dirty="0"/>
              <a:t>t</a:t>
            </a:r>
            <a:r>
              <a:rPr dirty="0"/>
              <a:t> &amp; test</a:t>
            </a:r>
            <a:r>
              <a:rPr lang="en-US" dirty="0"/>
              <a:t>ed</a:t>
            </a:r>
            <a:r>
              <a:rPr dirty="0"/>
              <a:t> modular regex expressions.</a:t>
            </a:r>
          </a:p>
          <a:p>
            <a:pPr>
              <a:spcAft>
                <a:spcPts val="600"/>
              </a:spcAft>
              <a:defRPr sz="1050">
                <a:solidFill>
                  <a:srgbClr val="94A3B8"/>
                </a:solidFill>
                <a:latin typeface="Segoe UI"/>
              </a:defRPr>
            </a:pPr>
            <a:r>
              <a:rPr dirty="0"/>
              <a:t>• Implement</a:t>
            </a:r>
            <a:r>
              <a:rPr lang="en-US" dirty="0"/>
              <a:t>ed</a:t>
            </a:r>
            <a:r>
              <a:rPr dirty="0"/>
              <a:t> collections.Counter analytics.</a:t>
            </a:r>
          </a:p>
          <a:p>
            <a:pPr>
              <a:spcAft>
                <a:spcPts val="600"/>
              </a:spcAft>
              <a:defRPr sz="1050">
                <a:solidFill>
                  <a:srgbClr val="94A3B8"/>
                </a:solidFill>
                <a:latin typeface="Segoe UI"/>
              </a:defRPr>
            </a:pPr>
            <a:r>
              <a:rPr dirty="0"/>
              <a:t>• Develop</a:t>
            </a:r>
            <a:r>
              <a:rPr lang="en-US" dirty="0"/>
              <a:t>ed</a:t>
            </a:r>
            <a:r>
              <a:rPr dirty="0"/>
              <a:t> CSV &amp; console reporting.</a:t>
            </a:r>
          </a:p>
        </p:txBody>
      </p:sp>
      <p:sp>
        <p:nvSpPr>
          <p:cNvPr id="7" name="Rounded Rectangle 6"/>
          <p:cNvSpPr/>
          <p:nvPr/>
        </p:nvSpPr>
        <p:spPr>
          <a:xfrm>
            <a:off x="4989035" y="1463040"/>
            <a:ext cx="220652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201168" rIns="164592" rtlCol="0" anchor="ctr"/>
          <a:lstStyle/>
          <a:p>
            <a:pPr algn="ctr">
              <a:defRPr sz="1350" b="1">
                <a:solidFill>
                  <a:srgbClr val="FB923C"/>
                </a:solidFill>
                <a:latin typeface="Segoe UI"/>
              </a:defRPr>
            </a:pPr>
            <a:r>
              <a:rPr dirty="0"/>
              <a:t>Phase 3: Hardening</a:t>
            </a:r>
          </a:p>
          <a:p>
            <a:pPr>
              <a:spcAft>
                <a:spcPts val="1200"/>
              </a:spcAft>
              <a:defRPr sz="1100" b="1">
                <a:solidFill>
                  <a:srgbClr val="F8FAFC"/>
                </a:solidFill>
                <a:latin typeface="Segoe UI"/>
              </a:defRPr>
            </a:pPr>
            <a:r>
              <a:rPr lang="en-US" dirty="0"/>
              <a:t>          </a:t>
            </a:r>
            <a:r>
              <a:rPr dirty="0"/>
              <a:t>4</a:t>
            </a:r>
            <a:r>
              <a:rPr lang="en-US" dirty="0"/>
              <a:t>0</a:t>
            </a:r>
            <a:r>
              <a:rPr dirty="0"/>
              <a:t> Minutes</a:t>
            </a:r>
          </a:p>
          <a:p>
            <a:pPr>
              <a:spcAft>
                <a:spcPts val="600"/>
              </a:spcAft>
              <a:defRPr sz="1050">
                <a:solidFill>
                  <a:srgbClr val="94A3B8"/>
                </a:solidFill>
                <a:latin typeface="Segoe UI"/>
              </a:defRPr>
            </a:pPr>
            <a:r>
              <a:rPr dirty="0"/>
              <a:t>• Add</a:t>
            </a:r>
            <a:r>
              <a:rPr lang="en-US" dirty="0"/>
              <a:t>ed</a:t>
            </a:r>
            <a:r>
              <a:rPr dirty="0"/>
              <a:t> exception handling (missing/corrupt files).</a:t>
            </a:r>
          </a:p>
          <a:p>
            <a:pPr>
              <a:spcAft>
                <a:spcPts val="600"/>
              </a:spcAft>
              <a:defRPr sz="1050">
                <a:solidFill>
                  <a:srgbClr val="94A3B8"/>
                </a:solidFill>
                <a:latin typeface="Segoe UI"/>
              </a:defRPr>
            </a:pPr>
            <a:r>
              <a:rPr dirty="0"/>
              <a:t>• Implement</a:t>
            </a:r>
            <a:r>
              <a:rPr lang="en-US" dirty="0"/>
              <a:t>ed</a:t>
            </a:r>
            <a:r>
              <a:rPr dirty="0"/>
              <a:t> analyzer self-audit logging.</a:t>
            </a:r>
          </a:p>
          <a:p>
            <a:pPr>
              <a:spcAft>
                <a:spcPts val="600"/>
              </a:spcAft>
              <a:defRPr sz="1050">
                <a:solidFill>
                  <a:srgbClr val="94A3B8"/>
                </a:solidFill>
                <a:latin typeface="Segoe UI"/>
              </a:defRPr>
            </a:pPr>
            <a:r>
              <a:rPr dirty="0"/>
              <a:t>• Sanitize</a:t>
            </a:r>
            <a:r>
              <a:rPr lang="en-US" dirty="0"/>
              <a:t>d</a:t>
            </a:r>
            <a:r>
              <a:rPr dirty="0"/>
              <a:t> malformed log entries.</a:t>
            </a:r>
          </a:p>
          <a:p>
            <a:pPr>
              <a:spcAft>
                <a:spcPts val="600"/>
              </a:spcAft>
              <a:defRPr sz="1050">
                <a:solidFill>
                  <a:srgbClr val="94A3B8"/>
                </a:solidFill>
                <a:latin typeface="Segoe UI"/>
              </a:defRPr>
            </a:pPr>
            <a:r>
              <a:rPr dirty="0"/>
              <a:t>• Validate</a:t>
            </a:r>
            <a:r>
              <a:rPr lang="en-US" dirty="0"/>
              <a:t>d</a:t>
            </a:r>
            <a:r>
              <a:rPr dirty="0"/>
              <a:t> zero memory leaks.</a:t>
            </a:r>
          </a:p>
        </p:txBody>
      </p:sp>
      <p:sp>
        <p:nvSpPr>
          <p:cNvPr id="8" name="Rounded Rectangle 7"/>
          <p:cNvSpPr/>
          <p:nvPr/>
        </p:nvSpPr>
        <p:spPr>
          <a:xfrm>
            <a:off x="7315200" y="1463040"/>
            <a:ext cx="1947672"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201168" rIns="164592" rtlCol="0" anchor="ctr"/>
          <a:lstStyle/>
          <a:p>
            <a:pPr algn="ctr">
              <a:defRPr sz="1350" b="1">
                <a:solidFill>
                  <a:srgbClr val="F87171"/>
                </a:solidFill>
                <a:latin typeface="Segoe UI"/>
              </a:defRPr>
            </a:pPr>
            <a:r>
              <a:rPr dirty="0"/>
              <a:t>Phase 4: Refactor</a:t>
            </a:r>
          </a:p>
          <a:p>
            <a:pPr>
              <a:spcAft>
                <a:spcPts val="1200"/>
              </a:spcAft>
              <a:defRPr sz="1100" b="1">
                <a:solidFill>
                  <a:srgbClr val="F8FAFC"/>
                </a:solidFill>
                <a:latin typeface="Segoe UI"/>
              </a:defRPr>
            </a:pPr>
            <a:r>
              <a:rPr lang="en-US" dirty="0"/>
              <a:t>         </a:t>
            </a:r>
            <a:r>
              <a:rPr dirty="0"/>
              <a:t>45 Minutes</a:t>
            </a:r>
          </a:p>
          <a:p>
            <a:pPr>
              <a:spcAft>
                <a:spcPts val="600"/>
              </a:spcAft>
              <a:defRPr sz="1050">
                <a:solidFill>
                  <a:srgbClr val="94A3B8"/>
                </a:solidFill>
                <a:latin typeface="Segoe UI"/>
              </a:defRPr>
            </a:pPr>
            <a:r>
              <a:rPr dirty="0"/>
              <a:t>• AI-assisted code cleanup &amp; optimization.</a:t>
            </a:r>
          </a:p>
          <a:p>
            <a:pPr>
              <a:spcAft>
                <a:spcPts val="600"/>
              </a:spcAft>
              <a:defRPr sz="1050">
                <a:solidFill>
                  <a:srgbClr val="94A3B8"/>
                </a:solidFill>
                <a:latin typeface="Segoe UI"/>
              </a:defRPr>
            </a:pPr>
            <a:r>
              <a:rPr dirty="0"/>
              <a:t>• Wr</a:t>
            </a:r>
            <a:r>
              <a:rPr lang="en-US" dirty="0"/>
              <a:t>o</a:t>
            </a:r>
            <a:r>
              <a:rPr dirty="0"/>
              <a:t>te comprehensive </a:t>
            </a:r>
            <a:r>
              <a:rPr dirty="0" err="1"/>
              <a:t>unittest</a:t>
            </a:r>
            <a:r>
              <a:rPr dirty="0"/>
              <a:t> suite.</a:t>
            </a:r>
          </a:p>
          <a:p>
            <a:pPr>
              <a:spcAft>
                <a:spcPts val="600"/>
              </a:spcAft>
              <a:defRPr sz="1050">
                <a:solidFill>
                  <a:srgbClr val="94A3B8"/>
                </a:solidFill>
                <a:latin typeface="Segoe UI"/>
              </a:defRPr>
            </a:pPr>
            <a:r>
              <a:rPr dirty="0"/>
              <a:t>• Format</a:t>
            </a:r>
            <a:r>
              <a:rPr lang="en-US" dirty="0"/>
              <a:t>ted </a:t>
            </a:r>
            <a:r>
              <a:rPr dirty="0"/>
              <a:t>docstrings &amp; generate README.</a:t>
            </a:r>
          </a:p>
          <a:p>
            <a:pPr>
              <a:spcAft>
                <a:spcPts val="600"/>
              </a:spcAft>
              <a:defRPr sz="1050">
                <a:solidFill>
                  <a:srgbClr val="94A3B8"/>
                </a:solidFill>
                <a:latin typeface="Segoe UI"/>
              </a:defRPr>
            </a:pPr>
            <a:r>
              <a:rPr dirty="0"/>
              <a:t>• Verif</a:t>
            </a:r>
            <a:r>
              <a:rPr lang="en-US" dirty="0"/>
              <a:t>ied</a:t>
            </a:r>
            <a:r>
              <a:rPr dirty="0"/>
              <a:t> PEP 8 adherence.</a:t>
            </a:r>
          </a:p>
        </p:txBody>
      </p:sp>
      <p:sp>
        <p:nvSpPr>
          <p:cNvPr id="9" name="Rounded Rectangle 8"/>
          <p:cNvSpPr/>
          <p:nvPr/>
        </p:nvSpPr>
        <p:spPr>
          <a:xfrm>
            <a:off x="9382513" y="1463040"/>
            <a:ext cx="2154309"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164592" tIns="201168" rIns="164592" rtlCol="0" anchor="ctr"/>
          <a:lstStyle/>
          <a:p>
            <a:pPr algn="ctr">
              <a:defRPr sz="1350" b="1">
                <a:solidFill>
                  <a:srgbClr val="34D399"/>
                </a:solidFill>
                <a:latin typeface="Segoe UI"/>
              </a:defRPr>
            </a:pPr>
            <a:r>
              <a:rPr dirty="0"/>
              <a:t>Phase 5: Demo Prep</a:t>
            </a:r>
            <a:r>
              <a:rPr lang="en-US" dirty="0"/>
              <a:t>  </a:t>
            </a:r>
            <a:endParaRPr dirty="0"/>
          </a:p>
          <a:p>
            <a:pPr>
              <a:spcAft>
                <a:spcPts val="1200"/>
              </a:spcAft>
              <a:defRPr sz="1100" b="1">
                <a:solidFill>
                  <a:srgbClr val="F8FAFC"/>
                </a:solidFill>
                <a:latin typeface="Segoe UI"/>
              </a:defRPr>
            </a:pPr>
            <a:r>
              <a:rPr lang="en-US" dirty="0"/>
              <a:t>            </a:t>
            </a:r>
            <a:r>
              <a:rPr dirty="0"/>
              <a:t>3</a:t>
            </a:r>
            <a:r>
              <a:rPr lang="en-US" dirty="0"/>
              <a:t>0</a:t>
            </a:r>
            <a:r>
              <a:rPr dirty="0"/>
              <a:t> Minutes</a:t>
            </a:r>
          </a:p>
          <a:p>
            <a:pPr>
              <a:spcAft>
                <a:spcPts val="600"/>
              </a:spcAft>
              <a:defRPr sz="1050">
                <a:solidFill>
                  <a:srgbClr val="94A3B8"/>
                </a:solidFill>
                <a:latin typeface="Segoe UI"/>
              </a:defRPr>
            </a:pPr>
            <a:r>
              <a:rPr dirty="0"/>
              <a:t>• End-to-end integration walkthrough.</a:t>
            </a:r>
          </a:p>
          <a:p>
            <a:pPr>
              <a:spcAft>
                <a:spcPts val="600"/>
              </a:spcAft>
              <a:defRPr sz="1050">
                <a:solidFill>
                  <a:srgbClr val="94A3B8"/>
                </a:solidFill>
                <a:latin typeface="Segoe UI"/>
              </a:defRPr>
            </a:pPr>
            <a:r>
              <a:rPr dirty="0"/>
              <a:t>• Generate</a:t>
            </a:r>
            <a:r>
              <a:rPr lang="en-US" dirty="0"/>
              <a:t>d</a:t>
            </a:r>
            <a:r>
              <a:rPr dirty="0"/>
              <a:t> sample multi-size test logs.</a:t>
            </a:r>
          </a:p>
          <a:p>
            <a:pPr>
              <a:spcAft>
                <a:spcPts val="600"/>
              </a:spcAft>
              <a:defRPr sz="1050">
                <a:solidFill>
                  <a:srgbClr val="94A3B8"/>
                </a:solidFill>
                <a:latin typeface="Segoe UI"/>
              </a:defRPr>
            </a:pPr>
            <a:r>
              <a:rPr dirty="0"/>
              <a:t>• Rehearse</a:t>
            </a:r>
            <a:r>
              <a:rPr lang="en-US" dirty="0"/>
              <a:t>d</a:t>
            </a:r>
            <a:r>
              <a:rPr dirty="0"/>
              <a:t> 4-person live demo presentation.</a:t>
            </a:r>
          </a:p>
          <a:p>
            <a:pPr>
              <a:spcAft>
                <a:spcPts val="600"/>
              </a:spcAft>
              <a:defRPr sz="1050">
                <a:solidFill>
                  <a:srgbClr val="94A3B8"/>
                </a:solidFill>
                <a:latin typeface="Segoe UI"/>
              </a:defRPr>
            </a:pPr>
            <a:r>
              <a:rPr dirty="0"/>
              <a:t>• Verif</a:t>
            </a:r>
            <a:r>
              <a:rPr lang="en-US" dirty="0"/>
              <a:t>ied</a:t>
            </a:r>
            <a:r>
              <a:rPr dirty="0"/>
              <a:t> all rubric criteria met.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274320"/>
          </a:xfrm>
          <a:prstGeom prst="rect">
            <a:avLst/>
          </a:prstGeom>
          <a:noFill/>
        </p:spPr>
        <p:txBody>
          <a:bodyPr wrap="square" lIns="0" tIns="0" rIns="0" bIns="0">
            <a:spAutoFit/>
          </a:bodyPr>
          <a:lstStyle/>
          <a:p>
            <a:pPr>
              <a:defRPr sz="1050" b="1">
                <a:solidFill>
                  <a:srgbClr val="38BDF8"/>
                </a:solidFill>
                <a:latin typeface="Segoe UI"/>
              </a:defRPr>
            </a:pPr>
            <a:r>
              <a:t>10. EVALUATION RUBRIC</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F8FAFC"/>
                </a:solidFill>
                <a:latin typeface="Segoe UI"/>
              </a:defRPr>
            </a:pPr>
            <a:r>
              <a:t>Evaluation Criteria &amp; Implementation Mapping</a:t>
            </a:r>
          </a:p>
        </p:txBody>
      </p:sp>
      <p:graphicFrame>
        <p:nvGraphicFramePr>
          <p:cNvPr id="5" name="Table 4"/>
          <p:cNvGraphicFramePr>
            <a:graphicFrameLocks noGrp="1"/>
          </p:cNvGraphicFramePr>
          <p:nvPr>
            <p:extLst>
              <p:ext uri="{D42A27DB-BD31-4B8C-83A1-F6EECF244321}">
                <p14:modId xmlns:p14="http://schemas.microsoft.com/office/powerpoint/2010/main" val="2150775306"/>
              </p:ext>
            </p:extLst>
          </p:nvPr>
        </p:nvGraphicFramePr>
        <p:xfrm>
          <a:off x="731519" y="1410056"/>
          <a:ext cx="10515600" cy="4807863"/>
        </p:xfrm>
        <a:graphic>
          <a:graphicData uri="http://schemas.openxmlformats.org/drawingml/2006/table">
            <a:tbl>
              <a:tblPr firstRow="1" bandRow="1">
                <a:tableStyleId>{5C22544A-7EE6-4342-B048-85BDC9FD1C3A}</a:tableStyleId>
              </a:tblPr>
              <a:tblGrid>
                <a:gridCol w="2331167">
                  <a:extLst>
                    <a:ext uri="{9D8B030D-6E8A-4147-A177-3AD203B41FA5}">
                      <a16:colId xmlns:a16="http://schemas.microsoft.com/office/drawing/2014/main" val="20000"/>
                    </a:ext>
                  </a:extLst>
                </a:gridCol>
                <a:gridCol w="1492253">
                  <a:extLst>
                    <a:ext uri="{9D8B030D-6E8A-4147-A177-3AD203B41FA5}">
                      <a16:colId xmlns:a16="http://schemas.microsoft.com/office/drawing/2014/main" val="20001"/>
                    </a:ext>
                  </a:extLst>
                </a:gridCol>
                <a:gridCol w="6692180">
                  <a:extLst>
                    <a:ext uri="{9D8B030D-6E8A-4147-A177-3AD203B41FA5}">
                      <a16:colId xmlns:a16="http://schemas.microsoft.com/office/drawing/2014/main" val="20002"/>
                    </a:ext>
                  </a:extLst>
                </a:gridCol>
              </a:tblGrid>
              <a:tr h="686837">
                <a:tc>
                  <a:txBody>
                    <a:bodyPr/>
                    <a:lstStyle/>
                    <a:p>
                      <a:pPr>
                        <a:defRPr sz="1200" b="1">
                          <a:solidFill>
                            <a:srgbClr val="38BDF8"/>
                          </a:solidFill>
                          <a:latin typeface="Segoe UI"/>
                        </a:defRPr>
                      </a:pPr>
                      <a:r>
                        <a:t>Evaluation Component</a:t>
                      </a:r>
                    </a:p>
                  </a:txBody>
                  <a:tcPr anchor="ctr">
                    <a:solidFill>
                      <a:srgbClr val="182641"/>
                    </a:solidFill>
                  </a:tcPr>
                </a:tc>
                <a:tc>
                  <a:txBody>
                    <a:bodyPr/>
                    <a:lstStyle/>
                    <a:p>
                      <a:pPr>
                        <a:defRPr sz="1200" b="1">
                          <a:solidFill>
                            <a:srgbClr val="38BDF8"/>
                          </a:solidFill>
                          <a:latin typeface="Segoe UI"/>
                        </a:defRPr>
                      </a:pPr>
                      <a:r>
                        <a:t>Weight</a:t>
                      </a:r>
                    </a:p>
                  </a:txBody>
                  <a:tcPr anchor="ctr">
                    <a:solidFill>
                      <a:srgbClr val="182641"/>
                    </a:solidFill>
                  </a:tcPr>
                </a:tc>
                <a:tc>
                  <a:txBody>
                    <a:bodyPr/>
                    <a:lstStyle/>
                    <a:p>
                      <a:pPr>
                        <a:defRPr sz="1200" b="1">
                          <a:solidFill>
                            <a:srgbClr val="38BDF8"/>
                          </a:solidFill>
                          <a:latin typeface="Segoe UI"/>
                        </a:defRPr>
                      </a:pPr>
                      <a:r>
                        <a:rPr dirty="0"/>
                        <a:t>Implementation Evidence in Project</a:t>
                      </a:r>
                    </a:p>
                  </a:txBody>
                  <a:tcPr anchor="ctr">
                    <a:solidFill>
                      <a:srgbClr val="182641"/>
                    </a:solidFill>
                  </a:tcPr>
                </a:tc>
                <a:extLst>
                  <a:ext uri="{0D108BD9-81ED-4DB2-BD59-A6C34878D82A}">
                    <a16:rowId xmlns:a16="http://schemas.microsoft.com/office/drawing/2014/main" val="10000"/>
                  </a:ext>
                </a:extLst>
              </a:tr>
              <a:tr h="686837">
                <a:tc>
                  <a:txBody>
                    <a:bodyPr/>
                    <a:lstStyle/>
                    <a:p>
                      <a:pPr>
                        <a:defRPr sz="1100" b="0">
                          <a:solidFill>
                            <a:srgbClr val="F8FAFC"/>
                          </a:solidFill>
                          <a:latin typeface="Segoe UI"/>
                        </a:defRPr>
                      </a:pPr>
                      <a:r>
                        <a:t>Log Parsing &amp; Regex</a:t>
                      </a:r>
                    </a:p>
                  </a:txBody>
                  <a:tcPr anchor="ctr">
                    <a:solidFill>
                      <a:srgbClr val="1E293B"/>
                    </a:solidFill>
                  </a:tcPr>
                </a:tc>
                <a:tc>
                  <a:txBody>
                    <a:bodyPr/>
                    <a:lstStyle/>
                    <a:p>
                      <a:pPr>
                        <a:defRPr sz="1100" b="0">
                          <a:solidFill>
                            <a:srgbClr val="38BDF8"/>
                          </a:solidFill>
                          <a:latin typeface="Segoe UI"/>
                        </a:defRPr>
                      </a:pPr>
                      <a:r>
                        <a:t>25%</a:t>
                      </a:r>
                    </a:p>
                  </a:txBody>
                  <a:tcPr anchor="ctr">
                    <a:solidFill>
                      <a:srgbClr val="1E293B"/>
                    </a:solidFill>
                  </a:tcPr>
                </a:tc>
                <a:tc>
                  <a:txBody>
                    <a:bodyPr/>
                    <a:lstStyle/>
                    <a:p>
                      <a:pPr>
                        <a:defRPr sz="1100" b="0">
                          <a:solidFill>
                            <a:srgbClr val="94A3B8"/>
                          </a:solidFill>
                          <a:latin typeface="Segoe UI"/>
                        </a:defRPr>
                      </a:pPr>
                      <a:r>
                        <a:rPr dirty="0"/>
                        <a:t>Modular compiled regex with ISO timestamp &amp; group extractions</a:t>
                      </a:r>
                    </a:p>
                  </a:txBody>
                  <a:tcPr anchor="ctr">
                    <a:solidFill>
                      <a:srgbClr val="1E293B"/>
                    </a:solidFill>
                  </a:tcPr>
                </a:tc>
                <a:extLst>
                  <a:ext uri="{0D108BD9-81ED-4DB2-BD59-A6C34878D82A}">
                    <a16:rowId xmlns:a16="http://schemas.microsoft.com/office/drawing/2014/main" val="10001"/>
                  </a:ext>
                </a:extLst>
              </a:tr>
              <a:tr h="686837">
                <a:tc>
                  <a:txBody>
                    <a:bodyPr/>
                    <a:lstStyle/>
                    <a:p>
                      <a:pPr>
                        <a:defRPr sz="1100" b="0">
                          <a:solidFill>
                            <a:srgbClr val="F8FAFC"/>
                          </a:solidFill>
                          <a:latin typeface="Segoe UI"/>
                        </a:defRPr>
                      </a:pPr>
                      <a:r>
                        <a:t>Analysis &amp; Frequency</a:t>
                      </a:r>
                    </a:p>
                  </a:txBody>
                  <a:tcPr anchor="ctr">
                    <a:solidFill>
                      <a:srgbClr val="18212F"/>
                    </a:solidFill>
                  </a:tcPr>
                </a:tc>
                <a:tc>
                  <a:txBody>
                    <a:bodyPr/>
                    <a:lstStyle/>
                    <a:p>
                      <a:pPr>
                        <a:defRPr sz="1100" b="0">
                          <a:solidFill>
                            <a:srgbClr val="38BDF8"/>
                          </a:solidFill>
                          <a:latin typeface="Segoe UI"/>
                        </a:defRPr>
                      </a:pPr>
                      <a:r>
                        <a:t>25%</a:t>
                      </a:r>
                    </a:p>
                  </a:txBody>
                  <a:tcPr anchor="ctr">
                    <a:solidFill>
                      <a:srgbClr val="18212F"/>
                    </a:solidFill>
                  </a:tcPr>
                </a:tc>
                <a:tc>
                  <a:txBody>
                    <a:bodyPr/>
                    <a:lstStyle/>
                    <a:p>
                      <a:pPr>
                        <a:defRPr sz="1100" b="0">
                          <a:solidFill>
                            <a:srgbClr val="94A3B8"/>
                          </a:solidFill>
                          <a:latin typeface="Segoe UI"/>
                        </a:defRPr>
                      </a:pPr>
                      <a:r>
                        <a:t>collections.Counter isolating top error recurrence signatures</a:t>
                      </a:r>
                    </a:p>
                  </a:txBody>
                  <a:tcPr anchor="ctr">
                    <a:solidFill>
                      <a:srgbClr val="18212F"/>
                    </a:solidFill>
                  </a:tcPr>
                </a:tc>
                <a:extLst>
                  <a:ext uri="{0D108BD9-81ED-4DB2-BD59-A6C34878D82A}">
                    <a16:rowId xmlns:a16="http://schemas.microsoft.com/office/drawing/2014/main" val="10002"/>
                  </a:ext>
                </a:extLst>
              </a:tr>
              <a:tr h="686837">
                <a:tc>
                  <a:txBody>
                    <a:bodyPr/>
                    <a:lstStyle/>
                    <a:p>
                      <a:pPr>
                        <a:defRPr sz="1100" b="0">
                          <a:solidFill>
                            <a:srgbClr val="F8FAFC"/>
                          </a:solidFill>
                          <a:latin typeface="Segoe UI"/>
                        </a:defRPr>
                      </a:pPr>
                      <a:r>
                        <a:t>File / Data Structures</a:t>
                      </a:r>
                    </a:p>
                  </a:txBody>
                  <a:tcPr anchor="ctr">
                    <a:solidFill>
                      <a:srgbClr val="1E293B"/>
                    </a:solidFill>
                  </a:tcPr>
                </a:tc>
                <a:tc>
                  <a:txBody>
                    <a:bodyPr/>
                    <a:lstStyle/>
                    <a:p>
                      <a:pPr>
                        <a:defRPr sz="1100" b="0">
                          <a:solidFill>
                            <a:srgbClr val="38BDF8"/>
                          </a:solidFill>
                          <a:latin typeface="Segoe UI"/>
                        </a:defRPr>
                      </a:pPr>
                      <a:r>
                        <a:t>15%</a:t>
                      </a:r>
                    </a:p>
                  </a:txBody>
                  <a:tcPr anchor="ctr">
                    <a:solidFill>
                      <a:srgbClr val="1E293B"/>
                    </a:solidFill>
                  </a:tcPr>
                </a:tc>
                <a:tc>
                  <a:txBody>
                    <a:bodyPr/>
                    <a:lstStyle/>
                    <a:p>
                      <a:pPr>
                        <a:defRPr sz="1100" b="0">
                          <a:solidFill>
                            <a:srgbClr val="94A3B8"/>
                          </a:solidFill>
                          <a:latin typeface="Segoe UI"/>
                        </a:defRPr>
                      </a:pPr>
                      <a:r>
                        <a:t>Lazy generator iterators, dictionaries, and CSV serialization</a:t>
                      </a:r>
                    </a:p>
                  </a:txBody>
                  <a:tcPr anchor="ctr">
                    <a:solidFill>
                      <a:srgbClr val="1E293B"/>
                    </a:solidFill>
                  </a:tcPr>
                </a:tc>
                <a:extLst>
                  <a:ext uri="{0D108BD9-81ED-4DB2-BD59-A6C34878D82A}">
                    <a16:rowId xmlns:a16="http://schemas.microsoft.com/office/drawing/2014/main" val="10003"/>
                  </a:ext>
                </a:extLst>
              </a:tr>
              <a:tr h="686837">
                <a:tc>
                  <a:txBody>
                    <a:bodyPr/>
                    <a:lstStyle/>
                    <a:p>
                      <a:pPr>
                        <a:defRPr sz="1100" b="0">
                          <a:solidFill>
                            <a:srgbClr val="F8FAFC"/>
                          </a:solidFill>
                          <a:latin typeface="Segoe UI"/>
                        </a:defRPr>
                      </a:pPr>
                      <a:r>
                        <a:t>Error Handling &amp; Logging</a:t>
                      </a:r>
                    </a:p>
                  </a:txBody>
                  <a:tcPr anchor="ctr">
                    <a:solidFill>
                      <a:srgbClr val="18212F"/>
                    </a:solidFill>
                  </a:tcPr>
                </a:tc>
                <a:tc>
                  <a:txBody>
                    <a:bodyPr/>
                    <a:lstStyle/>
                    <a:p>
                      <a:pPr>
                        <a:defRPr sz="1100" b="0">
                          <a:solidFill>
                            <a:srgbClr val="38BDF8"/>
                          </a:solidFill>
                          <a:latin typeface="Segoe UI"/>
                        </a:defRPr>
                      </a:pPr>
                      <a:r>
                        <a:t>15%</a:t>
                      </a:r>
                    </a:p>
                  </a:txBody>
                  <a:tcPr anchor="ctr">
                    <a:solidFill>
                      <a:srgbClr val="18212F"/>
                    </a:solidFill>
                  </a:tcPr>
                </a:tc>
                <a:tc>
                  <a:txBody>
                    <a:bodyPr/>
                    <a:lstStyle/>
                    <a:p>
                      <a:pPr>
                        <a:defRPr sz="1100" b="0">
                          <a:solidFill>
                            <a:srgbClr val="94A3B8"/>
                          </a:solidFill>
                          <a:latin typeface="Segoe UI"/>
                        </a:defRPr>
                      </a:pPr>
                      <a:r>
                        <a:t>FileNotFoundError handling, skipped-line counting, internal audit log</a:t>
                      </a:r>
                    </a:p>
                  </a:txBody>
                  <a:tcPr anchor="ctr">
                    <a:solidFill>
                      <a:srgbClr val="18212F"/>
                    </a:solidFill>
                  </a:tcPr>
                </a:tc>
                <a:extLst>
                  <a:ext uri="{0D108BD9-81ED-4DB2-BD59-A6C34878D82A}">
                    <a16:rowId xmlns:a16="http://schemas.microsoft.com/office/drawing/2014/main" val="10004"/>
                  </a:ext>
                </a:extLst>
              </a:tr>
              <a:tr h="686837">
                <a:tc>
                  <a:txBody>
                    <a:bodyPr/>
                    <a:lstStyle/>
                    <a:p>
                      <a:pPr>
                        <a:defRPr sz="1100" b="0">
                          <a:solidFill>
                            <a:srgbClr val="F8FAFC"/>
                          </a:solidFill>
                          <a:latin typeface="Segoe UI"/>
                        </a:defRPr>
                      </a:pPr>
                      <a:r>
                        <a:t>Testing &amp; Quality</a:t>
                      </a:r>
                    </a:p>
                  </a:txBody>
                  <a:tcPr anchor="ctr">
                    <a:solidFill>
                      <a:srgbClr val="1E293B"/>
                    </a:solidFill>
                  </a:tcPr>
                </a:tc>
                <a:tc>
                  <a:txBody>
                    <a:bodyPr/>
                    <a:lstStyle/>
                    <a:p>
                      <a:pPr>
                        <a:defRPr sz="1100" b="0">
                          <a:solidFill>
                            <a:srgbClr val="38BDF8"/>
                          </a:solidFill>
                          <a:latin typeface="Segoe UI"/>
                        </a:defRPr>
                      </a:pPr>
                      <a:r>
                        <a:t>10%</a:t>
                      </a:r>
                    </a:p>
                  </a:txBody>
                  <a:tcPr anchor="ctr">
                    <a:solidFill>
                      <a:srgbClr val="1E293B"/>
                    </a:solidFill>
                  </a:tcPr>
                </a:tc>
                <a:tc>
                  <a:txBody>
                    <a:bodyPr/>
                    <a:lstStyle/>
                    <a:p>
                      <a:pPr>
                        <a:defRPr sz="1100" b="0">
                          <a:solidFill>
                            <a:srgbClr val="94A3B8"/>
                          </a:solidFill>
                          <a:latin typeface="Segoe UI"/>
                        </a:defRPr>
                      </a:pPr>
                      <a:r>
                        <a:t>Automated unit test suite validating regex edge cases &amp; counters</a:t>
                      </a:r>
                    </a:p>
                  </a:txBody>
                  <a:tcPr anchor="ctr">
                    <a:solidFill>
                      <a:srgbClr val="1E293B"/>
                    </a:solidFill>
                  </a:tcPr>
                </a:tc>
                <a:extLst>
                  <a:ext uri="{0D108BD9-81ED-4DB2-BD59-A6C34878D82A}">
                    <a16:rowId xmlns:a16="http://schemas.microsoft.com/office/drawing/2014/main" val="10005"/>
                  </a:ext>
                </a:extLst>
              </a:tr>
              <a:tr h="686841">
                <a:tc>
                  <a:txBody>
                    <a:bodyPr/>
                    <a:lstStyle/>
                    <a:p>
                      <a:pPr>
                        <a:defRPr sz="1100" b="0">
                          <a:solidFill>
                            <a:srgbClr val="F8FAFC"/>
                          </a:solidFill>
                          <a:latin typeface="Segoe UI"/>
                        </a:defRPr>
                      </a:pPr>
                      <a:r>
                        <a:t>Live Demo &amp; Presentation</a:t>
                      </a:r>
                    </a:p>
                  </a:txBody>
                  <a:tcPr anchor="ctr">
                    <a:solidFill>
                      <a:srgbClr val="18212F"/>
                    </a:solidFill>
                  </a:tcPr>
                </a:tc>
                <a:tc>
                  <a:txBody>
                    <a:bodyPr/>
                    <a:lstStyle/>
                    <a:p>
                      <a:pPr>
                        <a:defRPr sz="1100" b="0">
                          <a:solidFill>
                            <a:srgbClr val="38BDF8"/>
                          </a:solidFill>
                          <a:latin typeface="Segoe UI"/>
                        </a:defRPr>
                      </a:pPr>
                      <a:r>
                        <a:t>10%</a:t>
                      </a:r>
                    </a:p>
                  </a:txBody>
                  <a:tcPr anchor="ctr">
                    <a:solidFill>
                      <a:srgbClr val="18212F"/>
                    </a:solidFill>
                  </a:tcPr>
                </a:tc>
                <a:tc>
                  <a:txBody>
                    <a:bodyPr/>
                    <a:lstStyle/>
                    <a:p>
                      <a:pPr>
                        <a:defRPr sz="1100" b="0">
                          <a:solidFill>
                            <a:srgbClr val="94A3B8"/>
                          </a:solidFill>
                          <a:latin typeface="Segoe UI"/>
                        </a:defRPr>
                      </a:pPr>
                      <a:r>
                        <a:rPr dirty="0"/>
                        <a:t>Interactive CLI demonstration with colored terminal output &amp; reports</a:t>
                      </a:r>
                    </a:p>
                  </a:txBody>
                  <a:tcPr anchor="ctr">
                    <a:solidFill>
                      <a:srgbClr val="18212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436876" y="658368"/>
            <a:ext cx="10515600" cy="594360"/>
          </a:xfrm>
          <a:prstGeom prst="rect">
            <a:avLst/>
          </a:prstGeom>
          <a:noFill/>
        </p:spPr>
        <p:txBody>
          <a:bodyPr wrap="square" lIns="0" tIns="0" rIns="0" bIns="0">
            <a:spAutoFit/>
          </a:bodyPr>
          <a:lstStyle/>
          <a:p>
            <a:pPr>
              <a:defRPr sz="2400" b="1">
                <a:solidFill>
                  <a:srgbClr val="F8FAFC"/>
                </a:solidFill>
                <a:latin typeface="Segoe UI"/>
              </a:defRPr>
            </a:pPr>
            <a:r>
              <a:rPr dirty="0"/>
              <a:t>Project Deliverables, CLI Demo &amp; Discussion</a:t>
            </a:r>
          </a:p>
        </p:txBody>
      </p:sp>
      <p:sp>
        <p:nvSpPr>
          <p:cNvPr id="5" name="Rounded Rectangle 4"/>
          <p:cNvSpPr/>
          <p:nvPr/>
        </p:nvSpPr>
        <p:spPr>
          <a:xfrm>
            <a:off x="731520" y="2194560"/>
            <a:ext cx="3410712" cy="2468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38BDF8"/>
                </a:solidFill>
                <a:latin typeface="Segoe UI"/>
              </a:defRPr>
            </a:pPr>
            <a:r>
              <a:rPr dirty="0"/>
              <a:t>Console &amp; CLI Report</a:t>
            </a:r>
          </a:p>
          <a:p>
            <a:pPr>
              <a:spcAft>
                <a:spcPts val="600"/>
              </a:spcAft>
              <a:defRPr sz="1100">
                <a:solidFill>
                  <a:srgbClr val="94A3B8"/>
                </a:solidFill>
                <a:latin typeface="Segoe UI"/>
              </a:defRPr>
            </a:pPr>
            <a:r>
              <a:rPr dirty="0"/>
              <a:t>Rich interactive terminal summary.</a:t>
            </a:r>
          </a:p>
          <a:p>
            <a:pPr>
              <a:spcAft>
                <a:spcPts val="600"/>
              </a:spcAft>
              <a:defRPr sz="1100">
                <a:solidFill>
                  <a:srgbClr val="94A3B8"/>
                </a:solidFill>
                <a:latin typeface="Segoe UI"/>
              </a:defRPr>
            </a:pPr>
            <a:r>
              <a:rPr dirty="0"/>
              <a:t>ANSI colored severity alerts.</a:t>
            </a:r>
          </a:p>
          <a:p>
            <a:pPr>
              <a:spcAft>
                <a:spcPts val="600"/>
              </a:spcAft>
              <a:defRPr sz="1100">
                <a:solidFill>
                  <a:srgbClr val="94A3B8"/>
                </a:solidFill>
                <a:latin typeface="Segoe UI"/>
              </a:defRPr>
            </a:pPr>
            <a:r>
              <a:rPr dirty="0"/>
              <a:t>Total logs, warning/error ratios, and top-5 frequent failures displayed.</a:t>
            </a:r>
          </a:p>
        </p:txBody>
      </p:sp>
      <p:sp>
        <p:nvSpPr>
          <p:cNvPr id="6" name="Rounded Rectangle 5"/>
          <p:cNvSpPr/>
          <p:nvPr/>
        </p:nvSpPr>
        <p:spPr>
          <a:xfrm>
            <a:off x="4389120" y="2194560"/>
            <a:ext cx="3410712" cy="2468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34D399"/>
                </a:solidFill>
                <a:latin typeface="Segoe UI"/>
              </a:defRPr>
            </a:pPr>
            <a:r>
              <a:t>CSV &amp; Text Analytics</a:t>
            </a:r>
          </a:p>
          <a:p>
            <a:pPr>
              <a:spcAft>
                <a:spcPts val="600"/>
              </a:spcAft>
              <a:defRPr sz="1100">
                <a:solidFill>
                  <a:srgbClr val="94A3B8"/>
                </a:solidFill>
                <a:latin typeface="Segoe UI"/>
              </a:defRPr>
            </a:pPr>
            <a:r>
              <a:t>Structured error_distribution.csv exported.</a:t>
            </a:r>
          </a:p>
          <a:p>
            <a:pPr>
              <a:spcAft>
                <a:spcPts val="600"/>
              </a:spcAft>
              <a:defRPr sz="1100">
                <a:solidFill>
                  <a:srgbClr val="94A3B8"/>
                </a:solidFill>
                <a:latin typeface="Segoe UI"/>
              </a:defRPr>
            </a:pPr>
            <a:r>
              <a:t>Breakdown of error message frequencies.</a:t>
            </a:r>
          </a:p>
          <a:p>
            <a:pPr>
              <a:spcAft>
                <a:spcPts val="600"/>
              </a:spcAft>
              <a:defRPr sz="1100">
                <a:solidFill>
                  <a:srgbClr val="94A3B8"/>
                </a:solidFill>
                <a:latin typeface="Segoe UI"/>
              </a:defRPr>
            </a:pPr>
            <a:r>
              <a:t>Ready for ingestion into Excel, PowerBI, or cloud monitoring dashboards.</a:t>
            </a:r>
          </a:p>
        </p:txBody>
      </p:sp>
      <p:sp>
        <p:nvSpPr>
          <p:cNvPr id="7" name="Rounded Rectangle 6"/>
          <p:cNvSpPr/>
          <p:nvPr/>
        </p:nvSpPr>
        <p:spPr>
          <a:xfrm>
            <a:off x="8046720" y="2194560"/>
            <a:ext cx="3410712" cy="2468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pPr algn="ctr">
              <a:spcAft>
                <a:spcPts val="1000"/>
              </a:spcAft>
              <a:defRPr sz="1500" b="1">
                <a:solidFill>
                  <a:srgbClr val="A78BFA"/>
                </a:solidFill>
                <a:latin typeface="Segoe UI"/>
              </a:defRPr>
            </a:pPr>
            <a:r>
              <a:t>Tool Audit Log &amp; Tests</a:t>
            </a:r>
          </a:p>
          <a:p>
            <a:pPr>
              <a:spcAft>
                <a:spcPts val="600"/>
              </a:spcAft>
              <a:defRPr sz="1100">
                <a:solidFill>
                  <a:srgbClr val="94A3B8"/>
                </a:solidFill>
                <a:latin typeface="Segoe UI"/>
              </a:defRPr>
            </a:pPr>
            <a:r>
              <a:t>Internal application.log self-trace.</a:t>
            </a:r>
          </a:p>
          <a:p>
            <a:pPr>
              <a:spcAft>
                <a:spcPts val="600"/>
              </a:spcAft>
              <a:defRPr sz="1100">
                <a:solidFill>
                  <a:srgbClr val="94A3B8"/>
                </a:solidFill>
                <a:latin typeface="Segoe UI"/>
              </a:defRPr>
            </a:pPr>
            <a:r>
              <a:t>Records processing progress, line counts, and skipped malformed rows.</a:t>
            </a:r>
          </a:p>
          <a:p>
            <a:pPr>
              <a:spcAft>
                <a:spcPts val="600"/>
              </a:spcAft>
              <a:defRPr sz="1100">
                <a:solidFill>
                  <a:srgbClr val="94A3B8"/>
                </a:solidFill>
                <a:latin typeface="Segoe UI"/>
              </a:defRPr>
            </a:pPr>
            <a:r>
              <a:t>Complete unittest test suite included.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66EB02-77E6-ACC4-EB42-C0FE37D86ADD}"/>
              </a:ext>
            </a:extLst>
          </p:cNvPr>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A4BA053-5A71-96E1-771B-A8D5D26B1C1E}"/>
              </a:ext>
            </a:extLst>
          </p:cNvPr>
          <p:cNvSpPr txBox="1"/>
          <p:nvPr/>
        </p:nvSpPr>
        <p:spPr>
          <a:xfrm>
            <a:off x="2776702" y="572910"/>
            <a:ext cx="6638287" cy="630942"/>
          </a:xfrm>
          <a:prstGeom prst="rect">
            <a:avLst/>
          </a:prstGeom>
          <a:noFill/>
        </p:spPr>
        <p:txBody>
          <a:bodyPr wrap="square">
            <a:spAutoFit/>
          </a:bodyPr>
          <a:lstStyle/>
          <a:p>
            <a:pPr algn="ctr"/>
            <a:r>
              <a:rPr lang="en-US" sz="3500" dirty="0">
                <a:solidFill>
                  <a:schemeClr val="bg1"/>
                </a:solidFill>
              </a:rPr>
              <a:t>CONCLUSION</a:t>
            </a:r>
          </a:p>
        </p:txBody>
      </p:sp>
      <p:sp>
        <p:nvSpPr>
          <p:cNvPr id="6" name="Rounded Rectangle 5">
            <a:extLst>
              <a:ext uri="{FF2B5EF4-FFF2-40B4-BE49-F238E27FC236}">
                <a16:creationId xmlns:a16="http://schemas.microsoft.com/office/drawing/2014/main" id="{DD869A79-5F5A-E9CC-05D9-4F9C70047BD2}"/>
              </a:ext>
            </a:extLst>
          </p:cNvPr>
          <p:cNvSpPr/>
          <p:nvPr/>
        </p:nvSpPr>
        <p:spPr>
          <a:xfrm>
            <a:off x="757158" y="1494751"/>
            <a:ext cx="11078768" cy="42138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201168" rIns="228600" bIns="182880" rtlCol="0" anchor="ctr"/>
          <a:lstStyle/>
          <a:p>
            <a:r>
              <a:rPr lang="en-US" dirty="0"/>
              <a:t>Modern applications generate millions of log lines daily, and when systems fail, every second spent sifting through noise means costly downtime. With this project, our team transformed raw, unstructured diagnostic text into actionable operational clarity. By combining memory-efficient generator streaming, resilient regex parsing, and high-speed statistical aggregation, we engineered a lightweight tool that surfaces critical runtime failures instantly without memory bottlenecks. It is fast, defensive against corrupt data, and architected as an extensible foundation ready for production monitoring.</a:t>
            </a:r>
          </a:p>
        </p:txBody>
      </p:sp>
    </p:spTree>
    <p:extLst>
      <p:ext uri="{BB962C8B-B14F-4D97-AF65-F5344CB8AC3E}">
        <p14:creationId xmlns:p14="http://schemas.microsoft.com/office/powerpoint/2010/main" val="441105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323407-D479-C59E-DD23-774EEEA198EA}"/>
              </a:ext>
            </a:extLst>
          </p:cNvPr>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Free Animated Disney PowerPoint Template &amp; Slides Theme">
            <a:extLst>
              <a:ext uri="{FF2B5EF4-FFF2-40B4-BE49-F238E27FC236}">
                <a16:creationId xmlns:a16="http://schemas.microsoft.com/office/drawing/2014/main" id="{537D1EFC-DE8F-C1DB-265B-5A72EDE677F3}"/>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2720270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18</TotalTime>
  <Words>3418</Words>
  <Application>Microsoft Macintosh PowerPoint</Application>
  <PresentationFormat>Widescreen</PresentationFormat>
  <Paragraphs>391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Arpit Kanungo (akanungo)</cp:lastModifiedBy>
  <cp:revision>3</cp:revision>
  <dcterms:created xsi:type="dcterms:W3CDTF">2013-01-27T09:14:16Z</dcterms:created>
  <dcterms:modified xsi:type="dcterms:W3CDTF">2026-10-11T14:34:44Z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